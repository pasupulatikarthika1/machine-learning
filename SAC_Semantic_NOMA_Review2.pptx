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100" b="0" i="0" u="none" strike="noStrike" kern="1200" baseline="0">
                <a:solidFill>
                  <a:srgbClr val="64748B"/>
                </a:solidFill>
                <a:latin typeface="Calibri" panose="020F0502020204030204"/>
                <a:ea typeface="+mn-ea"/>
                <a:cs typeface="+mn-cs"/>
              </a:defRPr>
            </a:pPr>
            <a:r>
              <a:rPr sz="1100" b="0" i="0" u="none" strike="noStrike">
                <a:solidFill>
                  <a:srgbClr val="64748B"/>
                </a:solidFill>
                <a:latin typeface="Calibri" panose="020F0502020204030204"/>
              </a:rPr>
              <a:t>Simulated 100 m × 100 m cell (one realisation)</a:t>
            </a:r>
            <a:endParaRPr sz="1100" b="0" i="0" u="none" strike="noStrike">
              <a:solidFill>
                <a:srgbClr val="64748B"/>
              </a:solidFill>
              <a:latin typeface="Calibri" panose="020F0502020204030204"/>
            </a:endParaRPr>
          </a:p>
        </c:rich>
      </c:tx>
      <c:layout/>
      <c:overlay val="0"/>
    </c:title>
    <c:autoTitleDeleted val="0"/>
    <c:plotArea>
      <c:layout/>
      <c:scatterChart>
        <c:scatterStyle val="lineMarker"/>
        <c:varyColors val="0"/>
        <c:ser>
          <c:idx val="0"/>
          <c:order val="0"/>
          <c:tx>
            <c:strRef>
              <c:f>Sheet1!$B$1</c:f>
              <c:strCache>
                <c:ptCount val="1"/>
                <c:pt idx="0">
                  <c:v>Semantic users</c:v>
                </c:pt>
              </c:strCache>
            </c:strRef>
          </c:tx>
          <c:spPr>
            <a:ln w="19050" cap="rnd" cmpd="sng" algn="ctr">
              <a:noFill/>
              <a:prstDash val="solid"/>
              <a:round/>
            </a:ln>
            <a:effectLst/>
          </c:spPr>
          <c:marker>
            <c:symbol val="circle"/>
            <c:size val="9"/>
            <c:spPr>
              <a:solidFill>
                <a:srgbClr val="E89B0C"/>
              </a:solidFill>
              <a:ln w="9525" cap="flat" cmpd="sng" algn="ctr">
                <a:solidFill>
                  <a:srgbClr val="E89B0C"/>
                </a:solidFill>
                <a:prstDash val="solid"/>
                <a:round/>
              </a:ln>
              <a:effectLst/>
            </c:spPr>
          </c:marker>
          <c:dLbls>
            <c:delete val="1"/>
          </c:dLbls>
          <c:xVal>
            <c:numRef>
              <c:f>Sheet1!$A$2:$A$22</c:f>
              <c:numCache>
                <c:formatCode>General</c:formatCode>
                <c:ptCount val="21"/>
                <c:pt idx="0">
                  <c:v>38.9</c:v>
                </c:pt>
                <c:pt idx="1">
                  <c:v>28.1</c:v>
                </c:pt>
                <c:pt idx="2">
                  <c:v>54.3</c:v>
                </c:pt>
                <c:pt idx="3">
                  <c:v>14.1</c:v>
                </c:pt>
                <c:pt idx="4">
                  <c:v>77.2</c:v>
                </c:pt>
                <c:pt idx="5">
                  <c:v>81.5</c:v>
                </c:pt>
                <c:pt idx="6">
                  <c:v>70.7</c:v>
                </c:pt>
                <c:pt idx="7">
                  <c:v>72.9</c:v>
                </c:pt>
                <c:pt idx="8">
                  <c:v>77.1</c:v>
                </c:pt>
                <c:pt idx="9">
                  <c:v>35.8</c:v>
                </c:pt>
                <c:pt idx="10">
                  <c:v>11.6</c:v>
                </c:pt>
                <c:pt idx="11">
                  <c:v>27.1</c:v>
                </c:pt>
                <c:pt idx="12">
                  <c:v>82.9</c:v>
                </c:pt>
                <c:pt idx="13">
                  <c:v>35.7</c:v>
                </c:pt>
                <c:pt idx="14">
                  <c:v>80.2</c:v>
                </c:pt>
                <c:pt idx="15">
                  <c:v>7.5</c:v>
                </c:pt>
                <c:pt idx="16">
                  <c:v>98.7</c:v>
                </c:pt>
                <c:pt idx="17">
                  <c:v>19.9</c:v>
                </c:pt>
                <c:pt idx="18">
                  <c:v>0.6</c:v>
                </c:pt>
                <c:pt idx="19">
                  <c:v>7.4</c:v>
                </c:pt>
                <c:pt idx="20">
                  <c:v>50</c:v>
                </c:pt>
              </c:numCache>
            </c:numRef>
          </c:xVal>
          <c:yVal>
            <c:numRef>
              <c:f>Sheet1!$B$2:$B$22</c:f>
              <c:numCache>
                <c:formatCode>General</c:formatCode>
                <c:ptCount val="21"/>
                <c:pt idx="0">
                  <c:v>86.3</c:v>
                </c:pt>
                <c:pt idx="1">
                  <c:v>31.1</c:v>
                </c:pt>
                <c:pt idx="2">
                  <c:v>32.5</c:v>
                </c:pt>
                <c:pt idx="3">
                  <c:v>73</c:v>
                </c:pt>
                <c:pt idx="4">
                  <c:v>12</c:v>
                </c:pt>
                <c:pt idx="5">
                  <c:v>56.1</c:v>
                </c:pt>
                <c:pt idx="6">
                  <c:v>77.1</c:v>
                </c:pt>
                <c:pt idx="7">
                  <c:v>49.4</c:v>
                </c:pt>
                <c:pt idx="8">
                  <c:v>52.3</c:v>
                </c:pt>
                <c:pt idx="9">
                  <c:v>2.5</c:v>
                </c:pt>
                <c:pt idx="10">
                  <c:v>10.8</c:v>
                </c:pt>
              </c:numCache>
            </c:numRef>
          </c:yVal>
          <c:smooth val="0"/>
        </c:ser>
        <c:ser>
          <c:idx val="1"/>
          <c:order val="1"/>
          <c:tx>
            <c:strRef>
              <c:f>Sheet1!$C$1</c:f>
              <c:strCache>
                <c:ptCount val="1"/>
                <c:pt idx="0">
                  <c:v>Bit users</c:v>
                </c:pt>
              </c:strCache>
            </c:strRef>
          </c:tx>
          <c:spPr>
            <a:ln w="19050" cap="rnd" cmpd="sng" algn="ctr">
              <a:noFill/>
              <a:prstDash val="solid"/>
              <a:round/>
            </a:ln>
            <a:effectLst/>
          </c:spPr>
          <c:marker>
            <c:symbol val="circle"/>
            <c:size val="9"/>
            <c:spPr>
              <a:solidFill>
                <a:srgbClr val="0E9F8E"/>
              </a:solidFill>
              <a:ln w="9525" cap="flat" cmpd="sng" algn="ctr">
                <a:solidFill>
                  <a:srgbClr val="0E9F8E"/>
                </a:solidFill>
                <a:prstDash val="solid"/>
                <a:round/>
              </a:ln>
              <a:effectLst/>
            </c:spPr>
          </c:marker>
          <c:dLbls>
            <c:delete val="1"/>
          </c:dLbls>
          <c:xVal>
            <c:numRef>
              <c:f>Sheet1!$A$2:$A$22</c:f>
              <c:numCache>
                <c:formatCode>General</c:formatCode>
                <c:ptCount val="21"/>
                <c:pt idx="0">
                  <c:v>38.9</c:v>
                </c:pt>
                <c:pt idx="1">
                  <c:v>28.1</c:v>
                </c:pt>
                <c:pt idx="2">
                  <c:v>54.3</c:v>
                </c:pt>
                <c:pt idx="3">
                  <c:v>14.1</c:v>
                </c:pt>
                <c:pt idx="4">
                  <c:v>77.2</c:v>
                </c:pt>
                <c:pt idx="5">
                  <c:v>81.5</c:v>
                </c:pt>
                <c:pt idx="6">
                  <c:v>70.7</c:v>
                </c:pt>
                <c:pt idx="7">
                  <c:v>72.9</c:v>
                </c:pt>
                <c:pt idx="8">
                  <c:v>77.1</c:v>
                </c:pt>
                <c:pt idx="9">
                  <c:v>35.8</c:v>
                </c:pt>
                <c:pt idx="10">
                  <c:v>11.6</c:v>
                </c:pt>
                <c:pt idx="11">
                  <c:v>27.1</c:v>
                </c:pt>
                <c:pt idx="12">
                  <c:v>82.9</c:v>
                </c:pt>
                <c:pt idx="13">
                  <c:v>35.7</c:v>
                </c:pt>
                <c:pt idx="14">
                  <c:v>80.2</c:v>
                </c:pt>
                <c:pt idx="15">
                  <c:v>7.5</c:v>
                </c:pt>
                <c:pt idx="16">
                  <c:v>98.7</c:v>
                </c:pt>
                <c:pt idx="17">
                  <c:v>19.9</c:v>
                </c:pt>
                <c:pt idx="18">
                  <c:v>0.6</c:v>
                </c:pt>
                <c:pt idx="19">
                  <c:v>7.4</c:v>
                </c:pt>
                <c:pt idx="20">
                  <c:v>50</c:v>
                </c:pt>
              </c:numCache>
            </c:numRef>
          </c:xVal>
          <c:yVal>
            <c:numRef>
              <c:f>Sheet1!$C$2:$C$22</c:f>
              <c:numCache>
                <c:formatCode>General</c:formatCode>
                <c:ptCount val="21"/>
                <c:pt idx="11">
                  <c:v>62.3</c:v>
                </c:pt>
                <c:pt idx="12">
                  <c:v>33.1</c:v>
                </c:pt>
                <c:pt idx="13">
                  <c:v>6.4</c:v>
                </c:pt>
                <c:pt idx="14">
                  <c:v>63.8</c:v>
                </c:pt>
                <c:pt idx="15">
                  <c:v>88.7</c:v>
                </c:pt>
                <c:pt idx="16">
                  <c:v>47.2</c:v>
                </c:pt>
                <c:pt idx="17">
                  <c:v>71.3</c:v>
                </c:pt>
                <c:pt idx="18">
                  <c:v>76.1</c:v>
                </c:pt>
                <c:pt idx="19">
                  <c:v>42.8</c:v>
                </c:pt>
              </c:numCache>
            </c:numRef>
          </c:yVal>
          <c:smooth val="0"/>
        </c:ser>
        <c:ser>
          <c:idx val="2"/>
          <c:order val="2"/>
          <c:tx>
            <c:strRef>
              <c:f>Sheet1!$D$1</c:f>
              <c:strCache>
                <c:ptCount val="1"/>
                <c:pt idx="0">
                  <c:v>Base station</c:v>
                </c:pt>
              </c:strCache>
            </c:strRef>
          </c:tx>
          <c:spPr>
            <a:ln w="19050" cap="rnd" cmpd="sng" algn="ctr">
              <a:noFill/>
              <a:prstDash val="solid"/>
              <a:round/>
            </a:ln>
            <a:effectLst/>
          </c:spPr>
          <c:marker>
            <c:symbol val="circle"/>
            <c:size val="9"/>
            <c:spPr>
              <a:solidFill>
                <a:srgbClr val="0B1426"/>
              </a:solidFill>
              <a:ln w="9525" cap="flat" cmpd="sng" algn="ctr">
                <a:solidFill>
                  <a:srgbClr val="0B1426"/>
                </a:solidFill>
                <a:prstDash val="solid"/>
                <a:round/>
              </a:ln>
              <a:effectLst/>
            </c:spPr>
          </c:marker>
          <c:dLbls>
            <c:delete val="1"/>
          </c:dLbls>
          <c:xVal>
            <c:numRef>
              <c:f>Sheet1!$A$2:$A$22</c:f>
              <c:numCache>
                <c:formatCode>General</c:formatCode>
                <c:ptCount val="21"/>
                <c:pt idx="0">
                  <c:v>38.9</c:v>
                </c:pt>
                <c:pt idx="1">
                  <c:v>28.1</c:v>
                </c:pt>
                <c:pt idx="2">
                  <c:v>54.3</c:v>
                </c:pt>
                <c:pt idx="3">
                  <c:v>14.1</c:v>
                </c:pt>
                <c:pt idx="4">
                  <c:v>77.2</c:v>
                </c:pt>
                <c:pt idx="5">
                  <c:v>81.5</c:v>
                </c:pt>
                <c:pt idx="6">
                  <c:v>70.7</c:v>
                </c:pt>
                <c:pt idx="7">
                  <c:v>72.9</c:v>
                </c:pt>
                <c:pt idx="8">
                  <c:v>77.1</c:v>
                </c:pt>
                <c:pt idx="9">
                  <c:v>35.8</c:v>
                </c:pt>
                <c:pt idx="10">
                  <c:v>11.6</c:v>
                </c:pt>
                <c:pt idx="11">
                  <c:v>27.1</c:v>
                </c:pt>
                <c:pt idx="12">
                  <c:v>82.9</c:v>
                </c:pt>
                <c:pt idx="13">
                  <c:v>35.7</c:v>
                </c:pt>
                <c:pt idx="14">
                  <c:v>80.2</c:v>
                </c:pt>
                <c:pt idx="15">
                  <c:v>7.5</c:v>
                </c:pt>
                <c:pt idx="16">
                  <c:v>98.7</c:v>
                </c:pt>
                <c:pt idx="17">
                  <c:v>19.9</c:v>
                </c:pt>
                <c:pt idx="18">
                  <c:v>0.6</c:v>
                </c:pt>
                <c:pt idx="19">
                  <c:v>7.4</c:v>
                </c:pt>
                <c:pt idx="20">
                  <c:v>50</c:v>
                </c:pt>
              </c:numCache>
            </c:numRef>
          </c:xVal>
          <c:yVal>
            <c:numRef>
              <c:f>Sheet1!$D$2:$D$22</c:f>
              <c:numCache>
                <c:formatCode>General</c:formatCode>
                <c:ptCount val="21"/>
                <c:pt idx="20">
                  <c:v>50</c:v>
                </c:pt>
              </c:numCache>
            </c:numRef>
          </c:yVal>
          <c:smooth val="0"/>
        </c:ser>
        <c:dLbls>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majorGridlines>
          <c:spPr>
            <a:ln w="6350" cap="flat" cmpd="sng" algn="ctr">
              <a:solidFill>
                <a:srgbClr val="E2E8F0"/>
              </a:solidFill>
              <a:prstDash val="solid"/>
              <a:round/>
            </a:ln>
          </c:spPr>
        </c:majorGridlines>
        <c:title>
          <c:tx>
            <c:rich>
              <a:bodyPr rot="0" spcFirstLastPara="0" vertOverflow="ellipsis" vert="horz" wrap="square" anchor="ctr" anchorCtr="1"/>
              <a:lstStyle/>
              <a:p>
                <a:pPr>
                  <a:defRPr lang="en-US" sz="900" b="0" i="0" u="none" strike="noStrike" kern="1200" baseline="0">
                    <a:solidFill>
                      <a:srgbClr val="000000"/>
                    </a:solidFill>
                    <a:latin typeface="Arial" panose="020B0604020202020204"/>
                    <a:ea typeface="+mn-ea"/>
                    <a:cs typeface="+mn-cs"/>
                  </a:defRPr>
                </a:pPr>
                <a:r>
                  <a:rPr sz="900" b="0" i="0" u="none" strike="noStrike">
                    <a:solidFill>
                      <a:srgbClr val="000000"/>
                    </a:solidFill>
                    <a:latin typeface="Arial" panose="020B0604020202020204"/>
                  </a:rPr>
                  <a:t>X (m)</a:t>
                </a:r>
                <a:endParaRPr sz="900" b="0" i="0" u="none" strike="noStrike">
                  <a:solidFill>
                    <a:srgbClr val="000000"/>
                  </a:solidFill>
                  <a:latin typeface="Arial" panose="020B0604020202020204"/>
                </a:endParaRPr>
              </a:p>
            </c:rich>
          </c:tx>
          <c:layout/>
          <c:overlay val="0"/>
        </c:title>
        <c:numFmt formatCode="General" sourceLinked="1"/>
        <c:majorTickMark val="none"/>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4748B"/>
                </a:solidFill>
                <a:latin typeface="Arial" panose="020B0604020202020204"/>
                <a:ea typeface="+mn-ea"/>
                <a:cs typeface="+mn-cs"/>
              </a:defRPr>
            </a:pPr>
          </a:p>
        </c:txPr>
        <c:crossAx val="2094734552"/>
        <c:crosses val="autoZero"/>
        <c:crossBetween val="midCat"/>
      </c:valAx>
      <c:valAx>
        <c:axId val="2094734552"/>
        <c:scaling>
          <c:orientation val="minMax"/>
          <c:max val="100"/>
          <c:min val="0"/>
        </c:scaling>
        <c:delete val="0"/>
        <c:axPos val="l"/>
        <c:majorGridlines>
          <c:spPr>
            <a:ln w="6350" cap="flat" cmpd="sng" algn="ctr">
              <a:solidFill>
                <a:srgbClr val="E2E8F0"/>
              </a:solidFill>
              <a:prstDash val="solid"/>
              <a:round/>
            </a:ln>
          </c:spPr>
        </c:majorGridlines>
        <c:title>
          <c:tx>
            <c:rich>
              <a:bodyPr rot="-5400000" spcFirstLastPara="0" vertOverflow="ellipsis" vert="horz" wrap="square" anchor="ctr" anchorCtr="1"/>
              <a:lstStyle/>
              <a:p>
                <a:pPr>
                  <a:defRPr lang="en-US" sz="900" b="0" i="0" u="none" strike="noStrike" kern="1200" baseline="0">
                    <a:solidFill>
                      <a:srgbClr val="000000"/>
                    </a:solidFill>
                    <a:latin typeface="Arial" panose="020B0604020202020204"/>
                    <a:ea typeface="+mn-ea"/>
                    <a:cs typeface="+mn-cs"/>
                  </a:defRPr>
                </a:pPr>
                <a:r>
                  <a:rPr sz="900" b="0" i="0" u="none" strike="noStrike">
                    <a:solidFill>
                      <a:srgbClr val="000000"/>
                    </a:solidFill>
                    <a:latin typeface="Arial" panose="020B0604020202020204"/>
                  </a:rPr>
                  <a:t>Y (m)</a:t>
                </a:r>
                <a:endParaRPr sz="900" b="0" i="0" u="none" strike="noStrike">
                  <a:solidFill>
                    <a:srgbClr val="000000"/>
                  </a:solidFill>
                  <a:latin typeface="Arial" panose="020B0604020202020204"/>
                </a:endParaRPr>
              </a:p>
            </c:rich>
          </c:tx>
          <c:layout/>
          <c:overlay val="0"/>
        </c:title>
        <c:numFmt formatCode="General" sourceLinked="0"/>
        <c:majorTickMark val="none"/>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4748B"/>
                </a:solidFill>
                <a:latin typeface="Arial" panose="020B0604020202020204"/>
                <a:ea typeface="+mn-ea"/>
                <a:cs typeface="+mn-cs"/>
              </a:defRPr>
            </a:pPr>
          </a:p>
        </c:txPr>
        <c:crossAx val="2094734554"/>
        <c:crosses val="autoZero"/>
        <c:crossBetween val="midCat"/>
      </c:valAx>
      <c:spPr>
        <a:noFill/>
        <a:ln>
          <a:noFill/>
        </a:ln>
        <a:effectLst/>
      </c:spPr>
    </c:plotArea>
    <c:legend>
      <c:legendPos val="b"/>
      <c:layout/>
      <c:overlay val="0"/>
      <c:txPr>
        <a:bodyPr rot="0" spcFirstLastPara="0" vertOverflow="ellipsis" vert="horz" wrap="square" anchor="ctr" anchorCtr="1"/>
        <a:lstStyle/>
        <a:p>
          <a:pPr>
            <a:defRPr lang="en-US" sz="1000" b="0" i="0" u="none" strike="noStrike" kern="1200" baseline="0">
              <a:solidFill>
                <a:schemeClr val="tx1"/>
              </a:solidFill>
              <a:latin typeface="Calibri" panose="020F0502020204030204"/>
              <a:ea typeface="+mn-ea"/>
              <a:cs typeface="Calibri" panose="020F0502020204030204"/>
            </a:defRPr>
          </a:pPr>
        </a:p>
      </c:txPr>
    </c:legend>
    <c:plotVisOnly val="1"/>
    <c:dispBlanksAs val="span"/>
    <c:showDLblsOverMax val="1"/>
    <c:extLst>
      <c:ext uri="{0b15fc19-7d7d-44ad-8c2d-2c3a37ce22c3}">
        <chartProps xmlns="https://web.wps.cn/et/2018/main" chartId="{69c091a3-7765-4653-a00a-f04a4db94095}"/>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explosion val="0"/>
          <c:dPt>
            <c:idx val="0"/>
            <c:bubble3D val="0"/>
            <c:spPr>
              <a:solidFill>
                <a:srgbClr val="0E9F8E"/>
              </a:solidFill>
              <a:effectLst/>
            </c:spPr>
          </c:dPt>
          <c:dPt>
            <c:idx val="1"/>
            <c:bubble3D val="0"/>
            <c:spPr>
              <a:solidFill>
                <a:srgbClr val="E89B0C"/>
              </a:solidFill>
              <a:effectLst/>
            </c:spPr>
          </c:dPt>
          <c:dPt>
            <c:idx val="2"/>
            <c:bubble3D val="0"/>
            <c:spPr>
              <a:solidFill>
                <a:srgbClr val="3B6EA8"/>
              </a:solidFill>
              <a:effectLst/>
            </c:spPr>
          </c:dPt>
          <c:dPt>
            <c:idx val="3"/>
            <c:bubble3D val="0"/>
            <c:spPr>
              <a:solidFill>
                <a:srgbClr val="7C8BA1"/>
              </a:solidFill>
              <a:effectLst/>
            </c:spPr>
          </c:dPt>
          <c:dPt>
            <c:idx val="4"/>
            <c:bubble3D val="0"/>
            <c:spPr>
              <a:solidFill>
                <a:srgbClr val="2F855A"/>
              </a:solidFill>
              <a:effectLst/>
            </c:spPr>
          </c:dPt>
          <c:dLbls>
            <c:dLbl>
              <c:idx val="0"/>
              <c:layout/>
              <c:numFmt formatCode="General"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FFFFFF"/>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dLbl>
              <c:idx val="1"/>
              <c:layout/>
              <c:numFmt formatCode="General"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FFFFFF"/>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dLbl>
              <c:idx val="2"/>
              <c:layout/>
              <c:numFmt formatCode="General"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FFFFFF"/>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dLbl>
              <c:idx val="3"/>
              <c:layout/>
              <c:numFmt formatCode="General"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FFFFFF"/>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dLbl>
              <c:idx val="4"/>
              <c:layout/>
              <c:numFmt formatCode="General"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FFFFFF"/>
                      </a:solidFill>
                      <a:latin typeface="Arial" panose="020B0604020202020204"/>
                      <a:ea typeface="+mn-ea"/>
                      <a:cs typeface="+mn-cs"/>
                    </a:defRPr>
                  </a:pPr>
                </a:p>
              </c:txPr>
              <c:showLegendKey val="0"/>
              <c:showVal val="0"/>
              <c:showCatName val="0"/>
              <c:showSerName val="0"/>
              <c:showPercent val="0"/>
              <c:showBubbleSize val="0"/>
              <c:extLst>
                <c:ext xmlns:c15="http://schemas.microsoft.com/office/drawing/2012/chart" uri="{CE6537A1-D6FC-4f65-9D91-7224C49458BB}"/>
              </c:extLst>
            </c:dLbl>
            <c:numFmt formatCode="General"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rgbClr val="000000"/>
                    </a:solidFill>
                    <a:latin typeface="Arial" panose="020B0604020202020204"/>
                    <a:ea typeface="+mn-ea"/>
                    <a:cs typeface="+mn-cs"/>
                  </a:defRPr>
                </a:pPr>
              </a:p>
            </c:txP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Sheet1!$A$2:$A$6</c:f>
              <c:strCache>
                <c:ptCount val="5"/>
                <c:pt idx="0">
                  <c:v>Throughput</c:v>
                </c:pt>
                <c:pt idx="1">
                  <c:v>Semantic</c:v>
                </c:pt>
                <c:pt idx="2">
                  <c:v>QoS</c:v>
                </c:pt>
                <c:pt idx="3">
                  <c:v>Fairness</c:v>
                </c:pt>
                <c:pt idx="4">
                  <c:v>Energy eff.</c:v>
                </c:pt>
              </c:strCache>
            </c:strRef>
          </c:cat>
          <c:val>
            <c:numRef>
              <c:f>Sheet1!$B$2:$B$6</c:f>
              <c:numCache>
                <c:formatCode>General</c:formatCode>
                <c:ptCount val="5"/>
                <c:pt idx="0">
                  <c:v>30</c:v>
                </c:pt>
                <c:pt idx="1">
                  <c:v>30</c:v>
                </c:pt>
                <c:pt idx="2">
                  <c:v>15</c:v>
                </c:pt>
                <c:pt idx="3">
                  <c:v>15</c:v>
                </c:pt>
                <c:pt idx="4">
                  <c:v>10</c:v>
                </c:pt>
              </c:numCache>
            </c:numRef>
          </c:val>
        </c:ser>
        <c:dLbls>
          <c:showLegendKey val="0"/>
          <c:showVal val="0"/>
          <c:showCatName val="1"/>
          <c:showSerName val="0"/>
          <c:showPercent val="1"/>
          <c:showBubbleSize val="0"/>
          <c:showLeaderLines val="1"/>
        </c:dLbls>
        <c:firstSliceAng val="0"/>
        <c:holeSize val="55"/>
      </c:doughnutChart>
      <c:spPr>
        <a:noFill/>
        <a:ln>
          <a:noFill/>
        </a:ln>
        <a:effectLst/>
      </c:spPr>
    </c:plotArea>
    <c:legend>
      <c:legendPos val="r"/>
      <c:layout/>
      <c:overlay val="0"/>
      <c:txPr>
        <a:bodyPr rot="0" spcFirstLastPara="0" vertOverflow="ellipsis" vert="horz" wrap="square" anchor="ctr" anchorCtr="1"/>
        <a:lstStyle/>
        <a:p>
          <a:pPr>
            <a:defRPr lang="en-US" sz="850" b="0" i="0" u="none" strike="noStrike" kern="1200" baseline="0">
              <a:solidFill>
                <a:schemeClr val="tx1"/>
              </a:solidFill>
              <a:latin typeface="Calibri" panose="020F0502020204030204"/>
              <a:ea typeface="+mn-ea"/>
              <a:cs typeface="Calibri" panose="020F0502020204030204"/>
            </a:defRPr>
          </a:pPr>
        </a:p>
      </c:txPr>
    </c:legend>
    <c:plotVisOnly val="1"/>
    <c:dispBlanksAs val="span"/>
    <c:showDLblsOverMax val="0"/>
    <c:extLst>
      <c:ext uri="{0b15fc19-7d7d-44ad-8c2d-2c3a37ce22c3}">
        <chartProps xmlns="https://web.wps.cn/et/2018/main" chartId="{acd8b87c-dac8-4759-94c4-0b08679bdfb2}"/>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100" b="0" i="0" u="none" strike="noStrike" kern="1200" baseline="0">
                <a:solidFill>
                  <a:srgbClr val="0B1426"/>
                </a:solidFill>
                <a:latin typeface="Calibri" panose="020F0502020204030204"/>
                <a:ea typeface="+mn-ea"/>
                <a:cs typeface="+mn-cs"/>
              </a:defRPr>
            </a:pPr>
            <a:r>
              <a:rPr sz="1100" b="0" i="0" u="none" strike="noStrike">
                <a:solidFill>
                  <a:srgbClr val="0B1426"/>
                </a:solidFill>
                <a:latin typeface="Calibri" panose="020F0502020204030204"/>
              </a:rPr>
              <a:t>SAC training reward (100-episode moving average)</a:t>
            </a:r>
            <a:endParaRPr sz="1100" b="0" i="0" u="none" strike="noStrike">
              <a:solidFill>
                <a:srgbClr val="0B1426"/>
              </a:solidFill>
              <a:latin typeface="Calibri" panose="020F0502020204030204"/>
            </a:endParaRPr>
          </a:p>
        </c:rich>
      </c:tx>
      <c:layout/>
      <c:overlay val="0"/>
    </c:title>
    <c:autoTitleDeleted val="0"/>
    <c:plotArea>
      <c:layout/>
      <c:lineChart>
        <c:grouping val="none"/>
        <c:varyColors val="0"/>
        <c:ser>
          <c:idx val="0"/>
          <c:order val="0"/>
          <c:tx>
            <c:strRef>
              <c:f>Sheet1!$B$1</c:f>
              <c:strCache>
                <c:ptCount val="1"/>
                <c:pt idx="0">
                  <c:v>Reward (100-episode moving avg.)</c:v>
                </c:pt>
              </c:strCache>
            </c:strRef>
          </c:tx>
          <c:spPr>
            <a:ln w="25400" cap="flat" cmpd="sng" algn="ctr">
              <a:solidFill>
                <a:srgbClr val="0E9F8E"/>
              </a:solidFill>
              <a:prstDash val="solid"/>
              <a:round/>
            </a:ln>
            <a:effectLst/>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Sheet1!$A$2:$A$47</c:f>
              <c:numCache>
                <c:formatCode>General</c:formatCode>
                <c:ptCount val="46"/>
                <c:pt idx="0">
                  <c:v>100</c:v>
                </c:pt>
                <c:pt idx="1">
                  <c:v>125</c:v>
                </c:pt>
                <c:pt idx="2">
                  <c:v>150</c:v>
                </c:pt>
                <c:pt idx="3">
                  <c:v>175</c:v>
                </c:pt>
                <c:pt idx="4">
                  <c:v>200</c:v>
                </c:pt>
                <c:pt idx="5">
                  <c:v>225</c:v>
                </c:pt>
                <c:pt idx="6">
                  <c:v>250</c:v>
                </c:pt>
                <c:pt idx="7">
                  <c:v>275</c:v>
                </c:pt>
                <c:pt idx="8">
                  <c:v>300</c:v>
                </c:pt>
                <c:pt idx="9">
                  <c:v>325</c:v>
                </c:pt>
                <c:pt idx="10">
                  <c:v>350</c:v>
                </c:pt>
                <c:pt idx="11">
                  <c:v>375</c:v>
                </c:pt>
                <c:pt idx="12">
                  <c:v>400</c:v>
                </c:pt>
                <c:pt idx="13">
                  <c:v>425</c:v>
                </c:pt>
                <c:pt idx="14">
                  <c:v>450</c:v>
                </c:pt>
                <c:pt idx="15">
                  <c:v>475</c:v>
                </c:pt>
                <c:pt idx="16">
                  <c:v>500</c:v>
                </c:pt>
                <c:pt idx="17">
                  <c:v>525</c:v>
                </c:pt>
                <c:pt idx="18">
                  <c:v>550</c:v>
                </c:pt>
                <c:pt idx="19">
                  <c:v>575</c:v>
                </c:pt>
                <c:pt idx="20">
                  <c:v>600</c:v>
                </c:pt>
                <c:pt idx="21">
                  <c:v>625</c:v>
                </c:pt>
                <c:pt idx="22">
                  <c:v>650</c:v>
                </c:pt>
                <c:pt idx="23">
                  <c:v>675</c:v>
                </c:pt>
                <c:pt idx="24">
                  <c:v>700</c:v>
                </c:pt>
                <c:pt idx="25">
                  <c:v>725</c:v>
                </c:pt>
                <c:pt idx="26">
                  <c:v>750</c:v>
                </c:pt>
                <c:pt idx="27">
                  <c:v>775</c:v>
                </c:pt>
                <c:pt idx="28">
                  <c:v>800</c:v>
                </c:pt>
                <c:pt idx="29">
                  <c:v>825</c:v>
                </c:pt>
                <c:pt idx="30">
                  <c:v>850</c:v>
                </c:pt>
                <c:pt idx="31">
                  <c:v>875</c:v>
                </c:pt>
                <c:pt idx="32">
                  <c:v>900</c:v>
                </c:pt>
                <c:pt idx="33">
                  <c:v>925</c:v>
                </c:pt>
                <c:pt idx="34">
                  <c:v>950</c:v>
                </c:pt>
                <c:pt idx="35">
                  <c:v>975</c:v>
                </c:pt>
                <c:pt idx="36">
                  <c:v>1000</c:v>
                </c:pt>
                <c:pt idx="37">
                  <c:v>1025</c:v>
                </c:pt>
                <c:pt idx="38">
                  <c:v>1050</c:v>
                </c:pt>
                <c:pt idx="39">
                  <c:v>1075</c:v>
                </c:pt>
                <c:pt idx="40">
                  <c:v>1100</c:v>
                </c:pt>
                <c:pt idx="41">
                  <c:v>1125</c:v>
                </c:pt>
                <c:pt idx="42">
                  <c:v>1150</c:v>
                </c:pt>
                <c:pt idx="43">
                  <c:v>1175</c:v>
                </c:pt>
                <c:pt idx="44">
                  <c:v>1200</c:v>
                </c:pt>
                <c:pt idx="45">
                  <c:v>1200</c:v>
                </c:pt>
              </c:numCache>
            </c:numRef>
          </c:cat>
          <c:val>
            <c:numRef>
              <c:f>Sheet1!$B$2:$B$47</c:f>
              <c:numCache>
                <c:formatCode>General</c:formatCode>
                <c:ptCount val="46"/>
                <c:pt idx="0">
                  <c:v>0.5207</c:v>
                </c:pt>
                <c:pt idx="1">
                  <c:v>0.5265</c:v>
                </c:pt>
                <c:pt idx="2">
                  <c:v>0.5414</c:v>
                </c:pt>
                <c:pt idx="3">
                  <c:v>0.544</c:v>
                </c:pt>
                <c:pt idx="4">
                  <c:v>0.5407</c:v>
                </c:pt>
                <c:pt idx="5">
                  <c:v>0.5373</c:v>
                </c:pt>
                <c:pt idx="6">
                  <c:v>0.5248</c:v>
                </c:pt>
                <c:pt idx="7">
                  <c:v>0.5184</c:v>
                </c:pt>
                <c:pt idx="8">
                  <c:v>0.5307</c:v>
                </c:pt>
                <c:pt idx="9">
                  <c:v>0.525</c:v>
                </c:pt>
                <c:pt idx="10">
                  <c:v>0.5312</c:v>
                </c:pt>
                <c:pt idx="11">
                  <c:v>0.5296</c:v>
                </c:pt>
                <c:pt idx="12">
                  <c:v>0.5257</c:v>
                </c:pt>
                <c:pt idx="13">
                  <c:v>0.5385</c:v>
                </c:pt>
                <c:pt idx="14">
                  <c:v>0.5417</c:v>
                </c:pt>
                <c:pt idx="15">
                  <c:v>0.5375</c:v>
                </c:pt>
                <c:pt idx="16">
                  <c:v>0.5404</c:v>
                </c:pt>
                <c:pt idx="17">
                  <c:v>0.534</c:v>
                </c:pt>
                <c:pt idx="18">
                  <c:v>0.5167</c:v>
                </c:pt>
                <c:pt idx="19">
                  <c:v>0.5218</c:v>
                </c:pt>
                <c:pt idx="20">
                  <c:v>0.5205</c:v>
                </c:pt>
                <c:pt idx="21">
                  <c:v>0.5195</c:v>
                </c:pt>
                <c:pt idx="22">
                  <c:v>0.5231</c:v>
                </c:pt>
                <c:pt idx="23">
                  <c:v>0.5226</c:v>
                </c:pt>
                <c:pt idx="24">
                  <c:v>0.526</c:v>
                </c:pt>
                <c:pt idx="25">
                  <c:v>0.5396</c:v>
                </c:pt>
                <c:pt idx="26">
                  <c:v>0.546</c:v>
                </c:pt>
                <c:pt idx="27">
                  <c:v>0.5463</c:v>
                </c:pt>
                <c:pt idx="28">
                  <c:v>0.5358</c:v>
                </c:pt>
                <c:pt idx="29">
                  <c:v>0.5241</c:v>
                </c:pt>
                <c:pt idx="30">
                  <c:v>0.528</c:v>
                </c:pt>
                <c:pt idx="31">
                  <c:v>0.5251</c:v>
                </c:pt>
                <c:pt idx="32">
                  <c:v>0.5348</c:v>
                </c:pt>
                <c:pt idx="33">
                  <c:v>0.5315</c:v>
                </c:pt>
                <c:pt idx="34">
                  <c:v>0.5347</c:v>
                </c:pt>
                <c:pt idx="35">
                  <c:v>0.5321</c:v>
                </c:pt>
                <c:pt idx="36">
                  <c:v>0.528</c:v>
                </c:pt>
                <c:pt idx="37">
                  <c:v>0.5391</c:v>
                </c:pt>
                <c:pt idx="38">
                  <c:v>0.5323</c:v>
                </c:pt>
                <c:pt idx="39">
                  <c:v>0.5363</c:v>
                </c:pt>
                <c:pt idx="40">
                  <c:v>0.5371</c:v>
                </c:pt>
                <c:pt idx="41">
                  <c:v>0.5337</c:v>
                </c:pt>
                <c:pt idx="42">
                  <c:v>0.5432</c:v>
                </c:pt>
                <c:pt idx="43">
                  <c:v>0.5437</c:v>
                </c:pt>
                <c:pt idx="44">
                  <c:v>0.543</c:v>
                </c:pt>
                <c:pt idx="45">
                  <c:v>0.543</c:v>
                </c:pt>
              </c:numCache>
            </c:numRef>
          </c:val>
          <c:smooth val="0"/>
        </c:ser>
        <c:dLbls>
          <c:showLegendKey val="0"/>
          <c:showVal val="0"/>
          <c:showCatName val="0"/>
          <c:showSerName val="0"/>
          <c:showPercent val="0"/>
          <c:showBubbleSize val="0"/>
        </c:dLbls>
        <c:marker val="0"/>
        <c:smooth val="0"/>
        <c:axId val="2094734554"/>
        <c:axId val="2094734552"/>
      </c:lineChart>
      <c:catAx>
        <c:axId val="2094734554"/>
        <c:scaling>
          <c:orientation val="minMax"/>
        </c:scaling>
        <c:delete val="0"/>
        <c:axPos val="b"/>
        <c:title>
          <c:tx>
            <c:rich>
              <a:bodyPr rot="0" spcFirstLastPara="0" vertOverflow="ellipsis" vert="horz" wrap="square" anchor="ctr" anchorCtr="1"/>
              <a:lstStyle/>
              <a:p>
                <a:pPr>
                  <a:defRPr lang="en-US" sz="900" b="0" i="0" u="none" strike="noStrike" kern="1200" baseline="0">
                    <a:solidFill>
                      <a:srgbClr val="64748B"/>
                    </a:solidFill>
                    <a:latin typeface="Arial" panose="020B0604020202020204"/>
                    <a:ea typeface="+mn-ea"/>
                    <a:cs typeface="+mn-cs"/>
                  </a:defRPr>
                </a:pPr>
                <a:r>
                  <a:rPr sz="900" b="0" i="0" u="none" strike="noStrike">
                    <a:solidFill>
                      <a:srgbClr val="64748B"/>
                    </a:solidFill>
                    <a:latin typeface="Arial" panose="020B0604020202020204"/>
                  </a:rPr>
                  <a:t>Episode</a:t>
                </a:r>
                <a:endParaRPr sz="900" b="0" i="0" u="none" strike="noStrike">
                  <a:solidFill>
                    <a:srgbClr val="64748B"/>
                  </a:solidFill>
                  <a:latin typeface="Arial" panose="020B0604020202020204"/>
                </a:endParaRPr>
              </a:p>
            </c:rich>
          </c:tx>
          <c:layout/>
          <c:overlay val="0"/>
        </c:title>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4748B"/>
                </a:solidFill>
                <a:latin typeface="Arial" panose="020B0604020202020204"/>
                <a:ea typeface="+mn-ea"/>
                <a:cs typeface="+mn-cs"/>
              </a:defRPr>
            </a:pPr>
          </a:p>
        </c:txPr>
        <c:crossAx val="2094734552"/>
        <c:crosses val="autoZero"/>
        <c:auto val="1"/>
        <c:lblAlgn val="ctr"/>
        <c:lblOffset val="100"/>
        <c:tickLblSkip val="8"/>
        <c:noMultiLvlLbl val="1"/>
      </c:catAx>
      <c:valAx>
        <c:axId val="2094734552"/>
        <c:scaling>
          <c:orientation val="minMax"/>
          <c:max val="0.56"/>
          <c:min val="0.5"/>
        </c:scaling>
        <c:delete val="0"/>
        <c:axPos val="l"/>
        <c:majorGridlines>
          <c:spPr>
            <a:ln w="6350" cap="flat" cmpd="sng" algn="ctr">
              <a:solidFill>
                <a:srgbClr val="E2E8F0"/>
              </a:solidFill>
              <a:prstDash val="solid"/>
              <a:round/>
            </a:ln>
          </c:spPr>
        </c:majorGridlines>
        <c:numFmt formatCode="0.00"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4748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3edacbe0-6b70-4e9e-b0ed-0b823136f4b2}"/>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100" b="0" i="0" u="none" strike="noStrike" kern="1200" baseline="0">
                <a:solidFill>
                  <a:srgbClr val="0B1426"/>
                </a:solidFill>
                <a:latin typeface="Calibri" panose="020F0502020204030204"/>
                <a:ea typeface="+mn-ea"/>
                <a:cs typeface="+mn-cs"/>
              </a:defRPr>
            </a:pPr>
            <a:r>
              <a:rPr sz="1100" b="0" i="0" u="none" strike="noStrike">
                <a:solidFill>
                  <a:srgbClr val="0B1426"/>
                </a:solidFill>
                <a:latin typeface="Calibri" panose="020F0502020204030204"/>
              </a:rPr>
              <a:t>SAC vs equal allocation (% change, 200 test episodes)</a:t>
            </a:r>
            <a:endParaRPr sz="1100" b="0" i="0" u="none" strike="noStrike">
              <a:solidFill>
                <a:srgbClr val="0B1426"/>
              </a:solidFill>
              <a:latin typeface="Calibri" panose="020F0502020204030204"/>
            </a:endParaRPr>
          </a:p>
        </c:rich>
      </c:tx>
      <c:layout/>
      <c:overlay val="0"/>
    </c:title>
    <c:autoTitleDeleted val="0"/>
    <c:plotArea>
      <c:layout/>
      <c:barChart>
        <c:barDir val="bar"/>
        <c:grouping val="clustered"/>
        <c:varyColors val="0"/>
        <c:ser>
          <c:idx val="0"/>
          <c:order val="0"/>
          <c:tx>
            <c:strRef>
              <c:f>Sheet1!$B$1</c:f>
              <c:strCache>
                <c:ptCount val="1"/>
                <c:pt idx="0">
                  <c:v>% change</c:v>
                </c:pt>
              </c:strCache>
            </c:strRef>
          </c:tx>
          <c:spPr>
            <a:solidFill>
              <a:srgbClr val="0E9F8E"/>
            </a:solidFill>
            <a:effectLst/>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0B1426"/>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Sheet1!$A$2:$A$8</c:f>
              <c:strCache>
                <c:ptCount val="7"/>
                <c:pt idx="0">
                  <c:v>Energy efficiency</c:v>
                </c:pt>
                <c:pt idx="1">
                  <c:v>Reward</c:v>
                </c:pt>
                <c:pt idx="2">
                  <c:v>Fairness</c:v>
                </c:pt>
                <c:pt idx="3">
                  <c:v>Semantic utility</c:v>
                </c:pt>
                <c:pt idx="4">
                  <c:v>QoS</c:v>
                </c:pt>
                <c:pt idx="5">
                  <c:v>Throughput</c:v>
                </c:pt>
                <c:pt idx="6">
                  <c:v>Power used</c:v>
                </c:pt>
              </c:strCache>
            </c:strRef>
          </c:cat>
          <c:val>
            <c:numRef>
              <c:f>Sheet1!$B$2:$B$8</c:f>
              <c:numCache>
                <c:formatCode>General</c:formatCode>
                <c:ptCount val="7"/>
                <c:pt idx="0">
                  <c:v>85.9</c:v>
                </c:pt>
                <c:pt idx="1">
                  <c:v>0.9</c:v>
                </c:pt>
                <c:pt idx="2">
                  <c:v>0.5</c:v>
                </c:pt>
                <c:pt idx="3">
                  <c:v>-0.4</c:v>
                </c:pt>
                <c:pt idx="4">
                  <c:v>-0.5</c:v>
                </c:pt>
                <c:pt idx="5">
                  <c:v>-3.4</c:v>
                </c:pt>
                <c:pt idx="6">
                  <c:v>-48.1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axMin"/>
        </c:scaling>
        <c:delete val="0"/>
        <c:axPos val="l"/>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50" b="0" i="0" u="none" strike="noStrike" kern="1200" baseline="0">
                <a:solidFill>
                  <a:srgbClr val="1F2937"/>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min val="-80"/>
        </c:scaling>
        <c:delete val="0"/>
        <c:axPos val="t"/>
        <c:majorGridlines>
          <c:spPr>
            <a:ln w="6350" cap="flat" cmpd="sng" algn="ctr">
              <a:solidFill>
                <a:srgbClr val="E2E8F0"/>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64748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d165dcd3-5c0e-4fa0-9c6a-2116f23e3085}"/>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title. One line: we use Soft Actor-Critic reinforcement learning to decide how much transmit power and transmission time each user gets in a network that mixes semantic users and conventional bit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is hard: two user types with different goals, one shared power and time budget, and a channel that changes every frame. Classical optimisation would need to be re-solved every frame, so we learn a policy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five values are user inputs. Everything else about each user, including location, channel gain, whether it is semantic or bit, its semantic importance and its target rate, is generated by the simulator. Roughly half the users are semantic.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scheduler is deterministic: it groups users onto subcarriers so SAC only has to learn power and time. Within a subcarrier we use a simplified downlink NOMA model. Semantic utility is a proxy: semantic importance times delivered megabits. Bit users have importance zero, so they only count through throughput and QoS.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sees five features per user. Its action is 41 continuous numbers. Softmax turns the logits into valid fractions, so the constraints are always satisfied without penalty terms. The reward balances five objectives with fixed weights; semantic utility has the same weight as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 is an off-policy actor-critic method. Two critics are trained and the minimum is used to avoid overestimation. The temperature alpha is learned automatically. We chose SAC over DQN because our action is continuous and 41-dimensional.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loop: configure, generate a channel, schedule users onto subcarriers, SAC chooses power and time, the simulator computes metrics and reward, and the transition is stored and used to update the networks. The first 300 episodes use random actions to fill the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training reward is noisy because every episode is a new random channel; the moving average ends slightly above where it started. Right: compared with equal allocation on 200 unseen channels, SAC nearly doubles energy efficiency and halves power, while throughput, semantic utility and QoS stay within a few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both results. The good news: SAC discovered that it can save about half the power and still deliver about the same throughput, which nearly doubles energy efficiency. The limitation: it has not yet learned to favour important semantic users; that is our main remaining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presents their own part here. Contribution lines are suggestions; edit them to match who actually did what. Close by pointing to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chart" Target="../charts/chart4.xml"/><Relationship Id="rId1" Type="http://schemas.openxmlformats.org/officeDocument/2006/relationships/chart" Target="../charts/chart3.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2" name="Shape 0"/>
          <p:cNvSpPr/>
          <p:nvPr/>
        </p:nvSpPr>
        <p:spPr>
          <a:xfrm>
            <a:off x="5943600" y="468630"/>
            <a:ext cx="3291840" cy="3291840"/>
          </a:xfrm>
          <a:prstGeom prst="ellipse">
            <a:avLst/>
          </a:prstGeom>
          <a:solidFill>
            <a:srgbClr val="0B1426"/>
          </a:solidFill>
          <a:ln w="15875">
            <a:solidFill>
              <a:srgbClr val="0E9F8E">
                <a:alpha val="80000"/>
              </a:srgbClr>
            </a:solidFill>
            <a:prstDash val="solid"/>
          </a:ln>
        </p:spPr>
      </p:sp>
      <p:sp>
        <p:nvSpPr>
          <p:cNvPr id="3" name="Shape 1"/>
          <p:cNvSpPr/>
          <p:nvPr/>
        </p:nvSpPr>
        <p:spPr>
          <a:xfrm>
            <a:off x="6309360" y="822960"/>
            <a:ext cx="2560320" cy="2560320"/>
          </a:xfrm>
          <a:prstGeom prst="ellipse">
            <a:avLst/>
          </a:prstGeom>
          <a:solidFill>
            <a:srgbClr val="0B1426"/>
          </a:solidFill>
          <a:ln w="15875">
            <a:solidFill>
              <a:srgbClr val="0E9F8E">
                <a:alpha val="65000"/>
              </a:srgbClr>
            </a:solidFill>
            <a:prstDash val="solid"/>
          </a:ln>
        </p:spPr>
      </p:sp>
      <p:sp>
        <p:nvSpPr>
          <p:cNvPr id="4" name="Shape 2"/>
          <p:cNvSpPr/>
          <p:nvPr/>
        </p:nvSpPr>
        <p:spPr>
          <a:xfrm>
            <a:off x="6675120" y="1188720"/>
            <a:ext cx="1828800" cy="1828800"/>
          </a:xfrm>
          <a:prstGeom prst="ellipse">
            <a:avLst/>
          </a:prstGeom>
          <a:solidFill>
            <a:srgbClr val="0B1426"/>
          </a:solidFill>
          <a:ln w="15875">
            <a:solidFill>
              <a:srgbClr val="0E9F8E">
                <a:alpha val="50000"/>
              </a:srgbClr>
            </a:solidFill>
            <a:prstDash val="solid"/>
          </a:ln>
        </p:spPr>
      </p:sp>
      <p:sp>
        <p:nvSpPr>
          <p:cNvPr id="5" name="Shape 3"/>
          <p:cNvSpPr/>
          <p:nvPr/>
        </p:nvSpPr>
        <p:spPr>
          <a:xfrm>
            <a:off x="7040880" y="1554480"/>
            <a:ext cx="1097280" cy="1097280"/>
          </a:xfrm>
          <a:prstGeom prst="ellipse">
            <a:avLst/>
          </a:prstGeom>
          <a:solidFill>
            <a:srgbClr val="0B1426"/>
          </a:solidFill>
          <a:ln w="15875">
            <a:solidFill>
              <a:srgbClr val="0E9F8E">
                <a:alpha val="35000"/>
              </a:srgbClr>
            </a:solidFill>
            <a:prstDash val="solid"/>
          </a:ln>
        </p:spPr>
      </p:sp>
      <p:sp>
        <p:nvSpPr>
          <p:cNvPr id="6" name="Shape 4"/>
          <p:cNvSpPr/>
          <p:nvPr/>
        </p:nvSpPr>
        <p:spPr>
          <a:xfrm>
            <a:off x="7223760" y="1737360"/>
            <a:ext cx="731520" cy="731520"/>
          </a:xfrm>
          <a:prstGeom prst="ellipse">
            <a:avLst/>
          </a:prstGeom>
          <a:solidFill>
            <a:srgbClr val="0E9F8E"/>
          </a:solidFill>
          <a:ln w="12700">
            <a:solidFill>
              <a:srgbClr val="0E9F8E"/>
            </a:solidFill>
            <a:prstDash val="solid"/>
          </a:ln>
        </p:spPr>
      </p:sp>
      <p:pic>
        <p:nvPicPr>
          <p:cNvPr id="7" name="Image 0" descr="preencoded.png"/>
          <p:cNvPicPr>
            <a:picLocks noChangeAspect="1"/>
          </p:cNvPicPr>
          <p:nvPr/>
        </p:nvPicPr>
        <p:blipFill>
          <a:blip r:embed="rId1"/>
          <a:stretch>
            <a:fillRect/>
          </a:stretch>
        </p:blipFill>
        <p:spPr>
          <a:xfrm>
            <a:off x="7388352" y="1901952"/>
            <a:ext cx="402336" cy="402336"/>
          </a:xfrm>
          <a:prstGeom prst="rect">
            <a:avLst/>
          </a:prstGeom>
        </p:spPr>
      </p:pic>
      <p:sp>
        <p:nvSpPr>
          <p:cNvPr id="8" name="Shape 5"/>
          <p:cNvSpPr/>
          <p:nvPr/>
        </p:nvSpPr>
        <p:spPr>
          <a:xfrm>
            <a:off x="6172200" y="1417320"/>
            <a:ext cx="182880" cy="182880"/>
          </a:xfrm>
          <a:prstGeom prst="ellipse">
            <a:avLst/>
          </a:prstGeom>
          <a:solidFill>
            <a:srgbClr val="E89B0C"/>
          </a:solidFill>
          <a:ln w="12700">
            <a:solidFill>
              <a:srgbClr val="E89B0C"/>
            </a:solidFill>
            <a:prstDash val="solid"/>
          </a:ln>
        </p:spPr>
      </p:sp>
      <p:sp>
        <p:nvSpPr>
          <p:cNvPr id="9" name="Shape 6"/>
          <p:cNvSpPr/>
          <p:nvPr/>
        </p:nvSpPr>
        <p:spPr>
          <a:xfrm>
            <a:off x="8549640" y="1005840"/>
            <a:ext cx="182880" cy="182880"/>
          </a:xfrm>
          <a:prstGeom prst="ellipse">
            <a:avLst/>
          </a:prstGeom>
          <a:solidFill>
            <a:srgbClr val="0E9F8E"/>
          </a:solidFill>
          <a:ln w="12700">
            <a:solidFill>
              <a:srgbClr val="0E9F8E"/>
            </a:solidFill>
            <a:prstDash val="solid"/>
          </a:ln>
        </p:spPr>
      </p:sp>
      <p:sp>
        <p:nvSpPr>
          <p:cNvPr id="10" name="Shape 7"/>
          <p:cNvSpPr/>
          <p:nvPr/>
        </p:nvSpPr>
        <p:spPr>
          <a:xfrm>
            <a:off x="8732520" y="2926080"/>
            <a:ext cx="182880" cy="182880"/>
          </a:xfrm>
          <a:prstGeom prst="ellipse">
            <a:avLst/>
          </a:prstGeom>
          <a:solidFill>
            <a:srgbClr val="E89B0C"/>
          </a:solidFill>
          <a:ln w="12700">
            <a:solidFill>
              <a:srgbClr val="E89B0C"/>
            </a:solidFill>
            <a:prstDash val="solid"/>
          </a:ln>
        </p:spPr>
      </p:sp>
      <p:sp>
        <p:nvSpPr>
          <p:cNvPr id="11" name="Shape 8"/>
          <p:cNvSpPr/>
          <p:nvPr/>
        </p:nvSpPr>
        <p:spPr>
          <a:xfrm>
            <a:off x="6583680" y="3246120"/>
            <a:ext cx="182880" cy="182880"/>
          </a:xfrm>
          <a:prstGeom prst="ellipse">
            <a:avLst/>
          </a:prstGeom>
          <a:solidFill>
            <a:srgbClr val="0E9F8E"/>
          </a:solidFill>
          <a:ln w="12700">
            <a:solidFill>
              <a:srgbClr val="0E9F8E"/>
            </a:solidFill>
            <a:prstDash val="solid"/>
          </a:ln>
        </p:spPr>
      </p:sp>
      <p:sp>
        <p:nvSpPr>
          <p:cNvPr id="12" name="Shape 9"/>
          <p:cNvSpPr/>
          <p:nvPr/>
        </p:nvSpPr>
        <p:spPr>
          <a:xfrm>
            <a:off x="7680960" y="685800"/>
            <a:ext cx="182880" cy="182880"/>
          </a:xfrm>
          <a:prstGeom prst="ellipse">
            <a:avLst/>
          </a:prstGeom>
          <a:solidFill>
            <a:srgbClr val="E89B0C"/>
          </a:solidFill>
          <a:ln w="12700">
            <a:solidFill>
              <a:srgbClr val="E89B0C"/>
            </a:solidFill>
            <a:prstDash val="solid"/>
          </a:ln>
        </p:spPr>
      </p:sp>
      <p:sp>
        <p:nvSpPr>
          <p:cNvPr id="13" name="Text 10"/>
          <p:cNvSpPr txBox="1"/>
          <p:nvPr/>
        </p:nvSpPr>
        <p:spPr>
          <a:xfrm>
            <a:off x="548640" y="548640"/>
            <a:ext cx="5486400" cy="274320"/>
          </a:xfrm>
          <a:prstGeom prst="rect">
            <a:avLst/>
          </a:prstGeom>
          <a:noFill/>
        </p:spPr>
        <p:txBody>
          <a:bodyPr wrap="square" lIns="0" tIns="0" rIns="0" bIns="0" rtlCol="0" anchor="ctr"/>
          <a:lstStyle/>
          <a:p>
            <a:pPr marL="0" indent="0">
              <a:buNone/>
            </a:pPr>
            <a:r>
              <a:rPr lang="en-US" sz="1200" b="1" kern="0" spc="200" dirty="0">
                <a:solidFill>
                  <a:srgbClr val="0E9F8E"/>
                </a:solidFill>
                <a:latin typeface="Calibri" panose="020F0502020204030204" pitchFamily="34" charset="0"/>
                <a:ea typeface="Calibri" panose="020F0502020204030204" pitchFamily="34" charset="-122"/>
                <a:cs typeface="Calibri" panose="020F0502020204030204" pitchFamily="34" charset="-120"/>
              </a:rPr>
              <a:t>MACHINE LEARNING (25SC2107E) </a:t>
            </a:r>
            <a:endParaRPr lang="en-US" sz="1200" dirty="0"/>
          </a:p>
        </p:txBody>
      </p:sp>
      <p:sp>
        <p:nvSpPr>
          <p:cNvPr id="14" name="Text 11"/>
          <p:cNvSpPr txBox="1"/>
          <p:nvPr/>
        </p:nvSpPr>
        <p:spPr>
          <a:xfrm>
            <a:off x="548640" y="960120"/>
            <a:ext cx="5394960" cy="1828800"/>
          </a:xfrm>
          <a:prstGeom prst="rect">
            <a:avLst/>
          </a:prstGeom>
          <a:noFill/>
        </p:spPr>
        <p:txBody>
          <a:bodyPr wrap="square" lIns="0" tIns="0" rIns="0" bIns="0" rtlCol="0" anchor="t"/>
          <a:lstStyle/>
          <a:p>
            <a:pPr marL="0" indent="0">
              <a:buNone/>
            </a:pPr>
            <a:r>
              <a:rPr lang="en-US" sz="2700" b="1" dirty="0">
                <a:solidFill>
                  <a:srgbClr val="FFFFFF"/>
                </a:solidFill>
                <a:latin typeface="Arial" panose="020B0604020202020204" pitchFamily="34" charset="0"/>
                <a:ea typeface="Arial" panose="020B0604020202020204" pitchFamily="34" charset="-122"/>
                <a:cs typeface="Arial" panose="020B0604020202020204" pitchFamily="34" charset="-120"/>
              </a:rPr>
              <a:t>Soft Actor-Critic Based Semantic-Aware Resource Allocation for Hybrid Semantic / Bit NOMA Networks</a:t>
            </a:r>
            <a:endParaRPr lang="en-US" sz="2700" dirty="0"/>
          </a:p>
        </p:txBody>
      </p:sp>
      <p:sp>
        <p:nvSpPr>
          <p:cNvPr id="15" name="Text 12"/>
          <p:cNvSpPr txBox="1"/>
          <p:nvPr/>
        </p:nvSpPr>
        <p:spPr>
          <a:xfrm>
            <a:off x="548640" y="2834640"/>
            <a:ext cx="5120640" cy="457200"/>
          </a:xfrm>
          <a:prstGeom prst="rect">
            <a:avLst/>
          </a:prstGeom>
          <a:noFill/>
        </p:spPr>
        <p:txBody>
          <a:bodyPr wrap="square" lIns="0" tIns="0" rIns="0" bIns="0" rtlCol="0" anchor="ctr"/>
          <a:lstStyle/>
          <a:p>
            <a:pPr marL="0" indent="0">
              <a:buNone/>
            </a:pPr>
            <a:r>
              <a:rPr lang="en-US" sz="1400" i="1" dirty="0">
                <a:solidFill>
                  <a:srgbClr val="CBD5E1"/>
                </a:solidFill>
                <a:latin typeface="Calibri" panose="020F0502020204030204" pitchFamily="34" charset="0"/>
                <a:ea typeface="Calibri" panose="020F0502020204030204" pitchFamily="34" charset="-122"/>
                <a:cs typeface="Calibri" panose="020F0502020204030204" pitchFamily="34" charset="-120"/>
              </a:rPr>
              <a:t>Deep reinforcement learning for power and time allocation in hybrid NOMA-OFDMA systems</a:t>
            </a:r>
            <a:endParaRPr lang="en-US" sz="1400" dirty="0"/>
          </a:p>
        </p:txBody>
      </p:sp>
      <p:sp>
        <p:nvSpPr>
          <p:cNvPr id="16" name="Shape 13"/>
          <p:cNvSpPr/>
          <p:nvPr/>
        </p:nvSpPr>
        <p:spPr>
          <a:xfrm>
            <a:off x="548640" y="3657600"/>
            <a:ext cx="1645920" cy="566928"/>
          </a:xfrm>
          <a:prstGeom prst="roundRect">
            <a:avLst>
              <a:gd name="adj" fmla="val 12903"/>
            </a:avLst>
          </a:prstGeom>
          <a:solidFill>
            <a:srgbClr val="16233D"/>
          </a:solidFill>
          <a:ln w="12700">
            <a:solidFill>
              <a:srgbClr val="2B3A57"/>
            </a:solidFill>
            <a:prstDash val="solid"/>
          </a:ln>
        </p:spPr>
      </p:sp>
      <p:sp>
        <p:nvSpPr>
          <p:cNvPr id="17" name="Text 14"/>
          <p:cNvSpPr txBox="1"/>
          <p:nvPr/>
        </p:nvSpPr>
        <p:spPr>
          <a:xfrm>
            <a:off x="658368" y="3694176"/>
            <a:ext cx="1463040" cy="493776"/>
          </a:xfrm>
          <a:prstGeom prst="rect">
            <a:avLst/>
          </a:prstGeom>
          <a:noFill/>
        </p:spPr>
        <p:txBody>
          <a:bodyPr wrap="square" lIns="0" tIns="0" rIns="0" bIns="0" rtlCol="0" anchor="ctr"/>
          <a:lstStyle/>
          <a:p>
            <a:pPr marL="0" indent="0">
              <a:buNone/>
            </a:pPr>
            <a:r>
              <a:rPr lang="en-IN" altLang="en-US" sz="1300" dirty="0">
                <a:solidFill>
                  <a:schemeClr val="bg1"/>
                </a:solidFill>
              </a:rPr>
              <a:t>N.Jesly Monica</a:t>
            </a:r>
            <a:endParaRPr lang="en-US" sz="1300" dirty="0">
              <a:solidFill>
                <a:schemeClr val="bg1"/>
              </a:solidFill>
            </a:endParaRPr>
          </a:p>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Roll No.</a:t>
            </a:r>
            <a:r>
              <a:rPr lang="en-IN" alt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2520040052</a:t>
            </a:r>
            <a:endParaRPr lang="en-IN" alt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5"/>
          <p:cNvSpPr/>
          <p:nvPr/>
        </p:nvSpPr>
        <p:spPr>
          <a:xfrm>
            <a:off x="2331720" y="3657600"/>
            <a:ext cx="1645920" cy="566928"/>
          </a:xfrm>
          <a:prstGeom prst="roundRect">
            <a:avLst>
              <a:gd name="adj" fmla="val 12903"/>
            </a:avLst>
          </a:prstGeom>
          <a:solidFill>
            <a:srgbClr val="16233D"/>
          </a:solidFill>
          <a:ln w="12700">
            <a:solidFill>
              <a:srgbClr val="2B3A57"/>
            </a:solidFill>
            <a:prstDash val="solid"/>
          </a:ln>
        </p:spPr>
      </p:sp>
      <p:sp>
        <p:nvSpPr>
          <p:cNvPr id="19" name="Text 16"/>
          <p:cNvSpPr txBox="1"/>
          <p:nvPr/>
        </p:nvSpPr>
        <p:spPr>
          <a:xfrm>
            <a:off x="2441448" y="3694176"/>
            <a:ext cx="1463040" cy="493776"/>
          </a:xfrm>
          <a:prstGeom prst="rect">
            <a:avLst/>
          </a:prstGeom>
          <a:noFill/>
        </p:spPr>
        <p:txBody>
          <a:bodyPr wrap="square" lIns="0" tIns="0" rIns="0" bIns="0" rtlCol="0" anchor="ctr"/>
          <a:lstStyle/>
          <a:p>
            <a:pPr marL="0" indent="0">
              <a:buNone/>
            </a:pPr>
            <a:r>
              <a:rPr lang="en-IN" altLang="en-US" sz="1300" dirty="0">
                <a:solidFill>
                  <a:schemeClr val="bg1"/>
                </a:solidFill>
              </a:rPr>
              <a:t>M.Shreya</a:t>
            </a:r>
            <a:endParaRPr lang="en-US" sz="1300" dirty="0">
              <a:solidFill>
                <a:schemeClr val="bg1"/>
              </a:solidFill>
            </a:endParaRPr>
          </a:p>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Roll No.</a:t>
            </a:r>
            <a:r>
              <a:rPr lang="en-IN" alt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2520040063</a:t>
            </a:r>
            <a:endParaRPr lang="en-IN" alt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7"/>
          <p:cNvSpPr/>
          <p:nvPr/>
        </p:nvSpPr>
        <p:spPr>
          <a:xfrm>
            <a:off x="4114800" y="3657600"/>
            <a:ext cx="1645920" cy="566928"/>
          </a:xfrm>
          <a:prstGeom prst="roundRect">
            <a:avLst>
              <a:gd name="adj" fmla="val 12903"/>
            </a:avLst>
          </a:prstGeom>
          <a:solidFill>
            <a:srgbClr val="16233D"/>
          </a:solidFill>
          <a:ln w="12700">
            <a:solidFill>
              <a:srgbClr val="2B3A57"/>
            </a:solidFill>
            <a:prstDash val="solid"/>
          </a:ln>
        </p:spPr>
      </p:sp>
      <p:sp>
        <p:nvSpPr>
          <p:cNvPr id="21" name="Text 18"/>
          <p:cNvSpPr txBox="1"/>
          <p:nvPr/>
        </p:nvSpPr>
        <p:spPr>
          <a:xfrm>
            <a:off x="4224528" y="3694176"/>
            <a:ext cx="1463040" cy="493776"/>
          </a:xfrm>
          <a:prstGeom prst="rect">
            <a:avLst/>
          </a:prstGeom>
          <a:noFill/>
        </p:spPr>
        <p:txBody>
          <a:bodyPr wrap="square" lIns="0" tIns="0" rIns="0" bIns="0" rtlCol="0" anchor="ctr"/>
          <a:lstStyle/>
          <a:p>
            <a:pPr marL="0" indent="0">
              <a:buNone/>
            </a:pPr>
            <a:r>
              <a:rPr lang="en-IN" alt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P.Karthika</a:t>
            </a: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endParaRPr lang="en-US" sz="1300" dirty="0"/>
          </a:p>
          <a:p>
            <a:pPr marL="0" indent="0">
              <a:buNone/>
            </a:pPr>
            <a:r>
              <a:rPr 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Roll No.</a:t>
            </a:r>
            <a:r>
              <a:rPr lang="en-IN" alt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rPr>
              <a:t>2520040094</a:t>
            </a:r>
            <a:endParaRPr lang="en-IN" altLang="en-US" sz="1000" dirty="0">
              <a:solidFill>
                <a:srgbClr val="94A3B8"/>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457200" cy="457200"/>
          </a:xfrm>
          <a:prstGeom prst="rect">
            <a:avLst/>
          </a:prstGeom>
          <a:noFill/>
        </p:spPr>
        <p:txBody>
          <a:bodyPr wrap="square" lIns="0" tIns="0" rIns="0" bIns="0" rtlCol="0" anchor="ctr"/>
          <a:lstStyle/>
          <a:p>
            <a:pPr marL="0" indent="0">
              <a:buNone/>
            </a:pPr>
            <a:endParaRPr lang="en-US" sz="1300" dirty="0"/>
          </a:p>
        </p:txBody>
      </p:sp>
      <p:sp>
        <p:nvSpPr>
          <p:cNvPr id="3" name="Text 1"/>
          <p:cNvSpPr txBox="1"/>
          <p:nvPr/>
        </p:nvSpPr>
        <p:spPr>
          <a:xfrm>
            <a:off x="868680" y="274320"/>
            <a:ext cx="7863840" cy="530352"/>
          </a:xfrm>
          <a:prstGeom prst="rect">
            <a:avLst/>
          </a:prstGeom>
          <a:noFill/>
        </p:spPr>
        <p:txBody>
          <a:bodyPr wrap="square" lIns="0" tIns="0" rIns="0" bIns="0" rtlCol="0" anchor="ctr"/>
          <a:lstStyle/>
          <a:p>
            <a:pPr marL="0" indent="0">
              <a:buNone/>
            </a:pPr>
            <a:r>
              <a:rPr lang="en-US" sz="2400" b="1" dirty="0">
                <a:solidFill>
                  <a:srgbClr val="0B1426"/>
                </a:solidFill>
                <a:latin typeface="Arial" panose="020B0604020202020204" pitchFamily="34" charset="0"/>
                <a:ea typeface="Arial" panose="020B0604020202020204" pitchFamily="34" charset="-122"/>
                <a:cs typeface="Arial" panose="020B0604020202020204" pitchFamily="34" charset="-120"/>
              </a:rPr>
              <a:t>Problem Statement</a:t>
            </a:r>
            <a:endParaRPr lang="en-US" sz="2400" dirty="0"/>
          </a:p>
        </p:txBody>
      </p:sp>
      <p:sp>
        <p:nvSpPr>
          <p:cNvPr id="4" name="Text 2"/>
          <p:cNvSpPr txBox="1"/>
          <p:nvPr/>
        </p:nvSpPr>
        <p:spPr>
          <a:xfrm>
            <a:off x="457200" y="4828032"/>
            <a:ext cx="5486400" cy="201168"/>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SAC · Semantic-Aware Hybrid NOMA  |  ML (25SC2107E) Review 2</a:t>
            </a:r>
            <a:endParaRPr lang="en-US" sz="900" dirty="0"/>
          </a:p>
        </p:txBody>
      </p:sp>
      <p:sp>
        <p:nvSpPr>
          <p:cNvPr id="5" name="Text 3"/>
          <p:cNvSpPr txBox="1"/>
          <p:nvPr/>
        </p:nvSpPr>
        <p:spPr>
          <a:xfrm>
            <a:off x="457200" y="1005840"/>
            <a:ext cx="3931920" cy="1554480"/>
          </a:xfrm>
          <a:prstGeom prst="rect">
            <a:avLst/>
          </a:prstGeom>
          <a:noFill/>
        </p:spPr>
        <p:txBody>
          <a:bodyPr wrap="square" lIns="0" tIns="0" rIns="0" bIns="0" rtlCol="0" anchor="t"/>
          <a:lstStyle/>
          <a:p>
            <a:pPr marL="0" indent="0">
              <a:spcAft>
                <a:spcPts val="600"/>
              </a:spcAft>
              <a:buNone/>
            </a:pPr>
            <a:r>
              <a:rPr lang="en-US" sz="1500" dirty="0">
                <a:solidFill>
                  <a:srgbClr val="1F2937"/>
                </a:solidFill>
                <a:latin typeface="Calibri" panose="020F0502020204030204" pitchFamily="34" charset="0"/>
                <a:ea typeface="Calibri" panose="020F0502020204030204" pitchFamily="34" charset="-122"/>
                <a:cs typeface="Calibri" panose="020F0502020204030204" pitchFamily="34" charset="-120"/>
              </a:rPr>
              <a:t>Next-generation networks will serve two kinds of users at once: </a:t>
            </a:r>
            <a:r>
              <a:rPr lang="en-US" sz="1500" b="1" dirty="0">
                <a:solidFill>
                  <a:srgbClr val="E89B0C"/>
                </a:solidFill>
                <a:latin typeface="Calibri" panose="020F0502020204030204" pitchFamily="34" charset="0"/>
                <a:ea typeface="Calibri" panose="020F0502020204030204" pitchFamily="34" charset="-122"/>
                <a:cs typeface="Calibri" panose="020F0502020204030204" pitchFamily="34" charset="-120"/>
              </a:rPr>
              <a:t>semantic users</a:t>
            </a:r>
            <a:r>
              <a:rPr lang="en-US" sz="1500" dirty="0">
                <a:solidFill>
                  <a:srgbClr val="1F2937"/>
                </a:solidFill>
                <a:latin typeface="Calibri" panose="020F0502020204030204" pitchFamily="34" charset="0"/>
                <a:ea typeface="Calibri" panose="020F0502020204030204" pitchFamily="34" charset="-122"/>
                <a:cs typeface="Calibri" panose="020F0502020204030204" pitchFamily="34" charset="-120"/>
              </a:rPr>
              <a:t> who care about the meaning of transmitted information, and conventional </a:t>
            </a:r>
            <a:r>
              <a:rPr lang="en-US" sz="1500" b="1" dirty="0">
                <a:solidFill>
                  <a:srgbClr val="0E9F8E"/>
                </a:solidFill>
                <a:latin typeface="Calibri" panose="020F0502020204030204" pitchFamily="34" charset="0"/>
                <a:ea typeface="Calibri" panose="020F0502020204030204" pitchFamily="34" charset="-122"/>
                <a:cs typeface="Calibri" panose="020F0502020204030204" pitchFamily="34" charset="-120"/>
              </a:rPr>
              <a:t>bit users</a:t>
            </a:r>
            <a:r>
              <a:rPr lang="en-US" sz="1500" dirty="0">
                <a:solidFill>
                  <a:srgbClr val="1F2937"/>
                </a:solidFill>
                <a:latin typeface="Calibri" panose="020F0502020204030204" pitchFamily="34" charset="0"/>
                <a:ea typeface="Calibri" panose="020F0502020204030204" pitchFamily="34" charset="-122"/>
                <a:cs typeface="Calibri" panose="020F0502020204030204" pitchFamily="34" charset="-120"/>
              </a:rPr>
              <a:t> who care about raw data rate. A base station must share one power budget and one frame of time among all of them.</a:t>
            </a:r>
            <a:endParaRPr lang="en-US" sz="1500" dirty="0"/>
          </a:p>
        </p:txBody>
      </p:sp>
      <p:sp>
        <p:nvSpPr>
          <p:cNvPr id="6" name="Shape 4"/>
          <p:cNvSpPr/>
          <p:nvPr/>
        </p:nvSpPr>
        <p:spPr>
          <a:xfrm>
            <a:off x="457200" y="2743200"/>
            <a:ext cx="3931920" cy="1783080"/>
          </a:xfrm>
          <a:prstGeom prst="roundRect">
            <a:avLst>
              <a:gd name="adj" fmla="val 5128"/>
            </a:avLst>
          </a:prstGeom>
          <a:solidFill>
            <a:srgbClr val="0B1426"/>
          </a:solidFill>
          <a:ln w="12700">
            <a:solidFill>
              <a:srgbClr val="0B1426"/>
            </a:solidFill>
            <a:prstDash val="solid"/>
          </a:ln>
        </p:spPr>
      </p:sp>
      <p:sp>
        <p:nvSpPr>
          <p:cNvPr id="7" name="Text 5"/>
          <p:cNvSpPr txBox="1"/>
          <p:nvPr/>
        </p:nvSpPr>
        <p:spPr>
          <a:xfrm>
            <a:off x="658368" y="2852928"/>
            <a:ext cx="3566160" cy="1572768"/>
          </a:xfrm>
          <a:prstGeom prst="rect">
            <a:avLst/>
          </a:prstGeom>
          <a:noFill/>
        </p:spPr>
        <p:txBody>
          <a:bodyPr wrap="square" lIns="0" tIns="0" rIns="0" bIns="0" rtlCol="0" anchor="ctr"/>
          <a:lstStyle/>
          <a:p>
            <a:pPr marL="0" indent="0">
              <a:spcAft>
                <a:spcPts val="600"/>
              </a:spcAft>
              <a:buNone/>
            </a:pPr>
            <a:r>
              <a:rPr lang="en-US" sz="1100" b="1" kern="0" spc="200" dirty="0">
                <a:solidFill>
                  <a:srgbClr val="0E9F8E"/>
                </a:solidFill>
                <a:latin typeface="Calibri" panose="020F0502020204030204" pitchFamily="34" charset="0"/>
                <a:ea typeface="Calibri" panose="020F0502020204030204" pitchFamily="34" charset="-122"/>
                <a:cs typeface="Calibri" panose="020F0502020204030204" pitchFamily="34" charset="-120"/>
              </a:rPr>
              <a:t>OBJECTIVE</a:t>
            </a:r>
            <a:endParaRPr lang="en-US" sz="1100" dirty="0"/>
          </a:p>
          <a:p>
            <a:pPr marL="0" indent="0">
              <a:spcAft>
                <a:spcPts val="600"/>
              </a:spcAft>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Learn a policy that maps channel and user state to per-user power and time allocation, jointly maximising throughput, semantic utility, QoS, fairness and energy efficiency.</a:t>
            </a:r>
            <a:endParaRPr lang="en-US" sz="1100" dirty="0"/>
          </a:p>
        </p:txBody>
      </p:sp>
      <p:sp>
        <p:nvSpPr>
          <p:cNvPr id="8" name="Shape 6"/>
          <p:cNvSpPr/>
          <p:nvPr/>
        </p:nvSpPr>
        <p:spPr>
          <a:xfrm>
            <a:off x="4754880" y="1005840"/>
            <a:ext cx="3931920" cy="1024128"/>
          </a:xfrm>
          <a:prstGeom prst="rect">
            <a:avLst/>
          </a:prstGeom>
          <a:solidFill>
            <a:srgbClr val="F1F5F9"/>
          </a:solidFill>
          <a:ln w="12700">
            <a:solidFill>
              <a:srgbClr val="F1F5F9"/>
            </a:solidFill>
            <a:prstDash val="solid"/>
          </a:ln>
        </p:spPr>
      </p:sp>
      <p:sp>
        <p:nvSpPr>
          <p:cNvPr id="9" name="Shape 7"/>
          <p:cNvSpPr/>
          <p:nvPr/>
        </p:nvSpPr>
        <p:spPr>
          <a:xfrm>
            <a:off x="4937760" y="1243584"/>
            <a:ext cx="548640" cy="548640"/>
          </a:xfrm>
          <a:prstGeom prst="ellipse">
            <a:avLst/>
          </a:prstGeom>
          <a:solidFill>
            <a:srgbClr val="0E9F8E"/>
          </a:solidFill>
          <a:ln w="12700">
            <a:solidFill>
              <a:srgbClr val="0E9F8E"/>
            </a:solidFill>
            <a:prstDash val="solid"/>
          </a:ln>
        </p:spPr>
      </p:sp>
      <p:pic>
        <p:nvPicPr>
          <p:cNvPr id="10" name="Image 0" descr="preencoded.png"/>
          <p:cNvPicPr>
            <a:picLocks noChangeAspect="1"/>
          </p:cNvPicPr>
          <p:nvPr/>
        </p:nvPicPr>
        <p:blipFill>
          <a:blip r:embed="rId1"/>
          <a:stretch>
            <a:fillRect/>
          </a:stretch>
        </p:blipFill>
        <p:spPr>
          <a:xfrm>
            <a:off x="5080406" y="1386230"/>
            <a:ext cx="263347" cy="263347"/>
          </a:xfrm>
          <a:prstGeom prst="rect">
            <a:avLst/>
          </a:prstGeom>
        </p:spPr>
      </p:pic>
      <p:sp>
        <p:nvSpPr>
          <p:cNvPr id="11" name="Text 8"/>
          <p:cNvSpPr txBox="1"/>
          <p:nvPr/>
        </p:nvSpPr>
        <p:spPr>
          <a:xfrm>
            <a:off x="5669280" y="1097280"/>
            <a:ext cx="2880360" cy="841248"/>
          </a:xfrm>
          <a:prstGeom prst="rect">
            <a:avLst/>
          </a:prstGeom>
          <a:noFill/>
        </p:spPr>
        <p:txBody>
          <a:bodyPr wrap="square" lIns="0" tIns="0" rIns="0" bIns="0" rtlCol="0" anchor="ctr"/>
          <a:lstStyle/>
          <a:p>
            <a:pPr marL="0" indent="0">
              <a:buNone/>
            </a:pPr>
            <a:r>
              <a:rPr lang="en-US" sz="1400" b="1" dirty="0">
                <a:solidFill>
                  <a:srgbClr val="0B1426"/>
                </a:solidFill>
                <a:latin typeface="Calibri" panose="020F0502020204030204" pitchFamily="34" charset="0"/>
                <a:ea typeface="Calibri" panose="020F0502020204030204" pitchFamily="34" charset="-122"/>
                <a:cs typeface="Calibri" panose="020F0502020204030204" pitchFamily="34" charset="-120"/>
              </a:rPr>
              <a:t>Mixed traffic types</a:t>
            </a:r>
            <a:endParaRPr lang="en-US" sz="1400" dirty="0"/>
          </a:p>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Equal or rate-only allocation ignores how important a semantic user's information is.</a:t>
            </a:r>
            <a:endParaRPr lang="en-US" sz="1400" dirty="0"/>
          </a:p>
        </p:txBody>
      </p:sp>
      <p:sp>
        <p:nvSpPr>
          <p:cNvPr id="12" name="Shape 9"/>
          <p:cNvSpPr/>
          <p:nvPr/>
        </p:nvSpPr>
        <p:spPr>
          <a:xfrm>
            <a:off x="4754880" y="2194560"/>
            <a:ext cx="3931920" cy="1024128"/>
          </a:xfrm>
          <a:prstGeom prst="rect">
            <a:avLst/>
          </a:prstGeom>
          <a:solidFill>
            <a:srgbClr val="F1F5F9"/>
          </a:solidFill>
          <a:ln w="12700">
            <a:solidFill>
              <a:srgbClr val="F1F5F9"/>
            </a:solidFill>
            <a:prstDash val="solid"/>
          </a:ln>
        </p:spPr>
      </p:sp>
      <p:sp>
        <p:nvSpPr>
          <p:cNvPr id="13" name="Shape 10"/>
          <p:cNvSpPr/>
          <p:nvPr/>
        </p:nvSpPr>
        <p:spPr>
          <a:xfrm>
            <a:off x="4937760" y="2432304"/>
            <a:ext cx="548640" cy="548640"/>
          </a:xfrm>
          <a:prstGeom prst="ellipse">
            <a:avLst/>
          </a:prstGeom>
          <a:solidFill>
            <a:srgbClr val="0E9F8E"/>
          </a:solidFill>
          <a:ln w="12700">
            <a:solidFill>
              <a:srgbClr val="0E9F8E"/>
            </a:solidFill>
            <a:prstDash val="solid"/>
          </a:ln>
        </p:spPr>
      </p:sp>
      <p:pic>
        <p:nvPicPr>
          <p:cNvPr id="14" name="Image 1" descr="preencoded.png"/>
          <p:cNvPicPr>
            <a:picLocks noChangeAspect="1"/>
          </p:cNvPicPr>
          <p:nvPr/>
        </p:nvPicPr>
        <p:blipFill>
          <a:blip r:embed="rId2"/>
          <a:stretch>
            <a:fillRect/>
          </a:stretch>
        </p:blipFill>
        <p:spPr>
          <a:xfrm>
            <a:off x="5080406" y="2574950"/>
            <a:ext cx="263347" cy="263347"/>
          </a:xfrm>
          <a:prstGeom prst="rect">
            <a:avLst/>
          </a:prstGeom>
        </p:spPr>
      </p:pic>
      <p:sp>
        <p:nvSpPr>
          <p:cNvPr id="15" name="Text 11"/>
          <p:cNvSpPr txBox="1"/>
          <p:nvPr/>
        </p:nvSpPr>
        <p:spPr>
          <a:xfrm>
            <a:off x="5669280" y="2286000"/>
            <a:ext cx="2880360" cy="841248"/>
          </a:xfrm>
          <a:prstGeom prst="rect">
            <a:avLst/>
          </a:prstGeom>
          <a:noFill/>
        </p:spPr>
        <p:txBody>
          <a:bodyPr wrap="square" lIns="0" tIns="0" rIns="0" bIns="0" rtlCol="0" anchor="ctr"/>
          <a:lstStyle/>
          <a:p>
            <a:pPr marL="0" indent="0">
              <a:buNone/>
            </a:pPr>
            <a:r>
              <a:rPr lang="en-US" sz="1400" b="1" dirty="0">
                <a:solidFill>
                  <a:srgbClr val="0B1426"/>
                </a:solidFill>
                <a:latin typeface="Calibri" panose="020F0502020204030204" pitchFamily="34" charset="0"/>
                <a:ea typeface="Calibri" panose="020F0502020204030204" pitchFamily="34" charset="-122"/>
                <a:cs typeface="Calibri" panose="020F0502020204030204" pitchFamily="34" charset="-120"/>
              </a:rPr>
              <a:t>Scarce shared resources</a:t>
            </a:r>
            <a:endParaRPr lang="en-US" sz="1400" dirty="0"/>
          </a:p>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One power budget, one frame duration and only a few OFDMA subcarriers for many users.</a:t>
            </a:r>
            <a:endParaRPr lang="en-US" sz="1400" dirty="0"/>
          </a:p>
        </p:txBody>
      </p:sp>
      <p:sp>
        <p:nvSpPr>
          <p:cNvPr id="16" name="Shape 12"/>
          <p:cNvSpPr/>
          <p:nvPr/>
        </p:nvSpPr>
        <p:spPr>
          <a:xfrm>
            <a:off x="4754880" y="3383280"/>
            <a:ext cx="3931920" cy="1024128"/>
          </a:xfrm>
          <a:prstGeom prst="rect">
            <a:avLst/>
          </a:prstGeom>
          <a:solidFill>
            <a:srgbClr val="F1F5F9"/>
          </a:solidFill>
          <a:ln w="12700">
            <a:solidFill>
              <a:srgbClr val="F1F5F9"/>
            </a:solidFill>
            <a:prstDash val="solid"/>
          </a:ln>
        </p:spPr>
      </p:sp>
      <p:sp>
        <p:nvSpPr>
          <p:cNvPr id="17" name="Shape 13"/>
          <p:cNvSpPr/>
          <p:nvPr/>
        </p:nvSpPr>
        <p:spPr>
          <a:xfrm>
            <a:off x="4937760" y="3621024"/>
            <a:ext cx="548640" cy="548640"/>
          </a:xfrm>
          <a:prstGeom prst="ellipse">
            <a:avLst/>
          </a:prstGeom>
          <a:solidFill>
            <a:srgbClr val="0E9F8E"/>
          </a:solidFill>
          <a:ln w="12700">
            <a:solidFill>
              <a:srgbClr val="0E9F8E"/>
            </a:solidFill>
            <a:prstDash val="solid"/>
          </a:ln>
        </p:spPr>
      </p:sp>
      <p:pic>
        <p:nvPicPr>
          <p:cNvPr id="18" name="Image 2" descr="preencoded.png"/>
          <p:cNvPicPr>
            <a:picLocks noChangeAspect="1"/>
          </p:cNvPicPr>
          <p:nvPr/>
        </p:nvPicPr>
        <p:blipFill>
          <a:blip r:embed="rId3"/>
          <a:stretch>
            <a:fillRect/>
          </a:stretch>
        </p:blipFill>
        <p:spPr>
          <a:xfrm>
            <a:off x="5080406" y="3763670"/>
            <a:ext cx="263347" cy="263347"/>
          </a:xfrm>
          <a:prstGeom prst="rect">
            <a:avLst/>
          </a:prstGeom>
        </p:spPr>
      </p:pic>
      <p:sp>
        <p:nvSpPr>
          <p:cNvPr id="19" name="Text 14"/>
          <p:cNvSpPr txBox="1"/>
          <p:nvPr/>
        </p:nvSpPr>
        <p:spPr>
          <a:xfrm>
            <a:off x="5669280" y="3474720"/>
            <a:ext cx="2880360" cy="841248"/>
          </a:xfrm>
          <a:prstGeom prst="rect">
            <a:avLst/>
          </a:prstGeom>
          <a:noFill/>
        </p:spPr>
        <p:txBody>
          <a:bodyPr wrap="square" lIns="0" tIns="0" rIns="0" bIns="0" rtlCol="0" anchor="ctr"/>
          <a:lstStyle/>
          <a:p>
            <a:pPr marL="0" indent="0">
              <a:buNone/>
            </a:pPr>
            <a:r>
              <a:rPr lang="en-US" sz="1400" b="1" dirty="0">
                <a:solidFill>
                  <a:srgbClr val="0B1426"/>
                </a:solidFill>
                <a:latin typeface="Calibri" panose="020F0502020204030204" pitchFamily="34" charset="0"/>
                <a:ea typeface="Calibri" panose="020F0502020204030204" pitchFamily="34" charset="-122"/>
                <a:cs typeface="Calibri" panose="020F0502020204030204" pitchFamily="34" charset="-120"/>
              </a:rPr>
              <a:t>Dynamic and non-convex</a:t>
            </a:r>
            <a:endParaRPr lang="en-US" sz="1400" dirty="0"/>
          </a:p>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Random fading and NOMA interference make per-frame optimisation hard to solve analytically.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457200" cy="457200"/>
          </a:xfrm>
          <a:prstGeom prst="rect">
            <a:avLst/>
          </a:prstGeom>
          <a:noFill/>
        </p:spPr>
        <p:txBody>
          <a:bodyPr wrap="square" lIns="0" tIns="0" rIns="0" bIns="0" rtlCol="0" anchor="ctr"/>
          <a:lstStyle/>
          <a:p>
            <a:pPr marL="0" indent="0">
              <a:buNone/>
            </a:pPr>
            <a:endParaRPr lang="en-US" sz="1300" dirty="0"/>
          </a:p>
        </p:txBody>
      </p:sp>
      <p:sp>
        <p:nvSpPr>
          <p:cNvPr id="3" name="Text 1"/>
          <p:cNvSpPr txBox="1"/>
          <p:nvPr/>
        </p:nvSpPr>
        <p:spPr>
          <a:xfrm>
            <a:off x="868680" y="274320"/>
            <a:ext cx="7863840" cy="530352"/>
          </a:xfrm>
          <a:prstGeom prst="rect">
            <a:avLst/>
          </a:prstGeom>
          <a:noFill/>
        </p:spPr>
        <p:txBody>
          <a:bodyPr wrap="square" lIns="0" tIns="0" rIns="0" bIns="0" rtlCol="0" anchor="ctr"/>
          <a:lstStyle/>
          <a:p>
            <a:pPr marL="0" indent="0">
              <a:buNone/>
            </a:pPr>
            <a:r>
              <a:rPr lang="en-US" sz="2400" b="1" dirty="0">
                <a:solidFill>
                  <a:srgbClr val="0B1426"/>
                </a:solidFill>
                <a:latin typeface="Arial" panose="020B0604020202020204" pitchFamily="34" charset="0"/>
                <a:ea typeface="Arial" panose="020B0604020202020204" pitchFamily="34" charset="-122"/>
                <a:cs typeface="Arial" panose="020B0604020202020204" pitchFamily="34" charset="-120"/>
              </a:rPr>
              <a:t>System Model</a:t>
            </a:r>
            <a:endParaRPr lang="en-US" sz="2400" dirty="0"/>
          </a:p>
        </p:txBody>
      </p:sp>
      <p:sp>
        <p:nvSpPr>
          <p:cNvPr id="4" name="Text 2"/>
          <p:cNvSpPr txBox="1"/>
          <p:nvPr/>
        </p:nvSpPr>
        <p:spPr>
          <a:xfrm>
            <a:off x="457200" y="4828032"/>
            <a:ext cx="5486400" cy="201168"/>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SAC · Semantic-Aware Hybrid NOMA  |  ML (25SC2107E) Review 2</a:t>
            </a:r>
            <a:endParaRPr lang="en-US" sz="900" dirty="0"/>
          </a:p>
        </p:txBody>
      </p:sp>
      <p:graphicFrame>
        <p:nvGraphicFramePr>
          <p:cNvPr id="5" name="Chart 0"/>
          <p:cNvGraphicFramePr/>
          <p:nvPr/>
        </p:nvGraphicFramePr>
        <p:xfrm>
          <a:off x="365760" y="914400"/>
          <a:ext cx="4206240" cy="3794760"/>
        </p:xfrm>
        <a:graphic>
          <a:graphicData uri="http://schemas.openxmlformats.org/drawingml/2006/chart">
            <c:chart xmlns:c="http://schemas.openxmlformats.org/drawingml/2006/chart" xmlns:r="http://schemas.openxmlformats.org/officeDocument/2006/relationships" r:id="rId1"/>
          </a:graphicData>
        </a:graphic>
      </p:graphicFrame>
      <p:sp>
        <p:nvSpPr>
          <p:cNvPr id="6" name="Text 3"/>
          <p:cNvSpPr txBox="1"/>
          <p:nvPr/>
        </p:nvSpPr>
        <p:spPr>
          <a:xfrm>
            <a:off x="4892040" y="914400"/>
            <a:ext cx="3840480" cy="274320"/>
          </a:xfrm>
          <a:prstGeom prst="rect">
            <a:avLst/>
          </a:prstGeom>
          <a:noFill/>
        </p:spPr>
        <p:txBody>
          <a:bodyPr wrap="square" lIns="0" tIns="0" rIns="0" bIns="0" rtlCol="0" anchor="ctr"/>
          <a:lstStyle/>
          <a:p>
            <a:pPr marL="0" indent="0">
              <a:buNone/>
            </a:pPr>
            <a:r>
              <a:rPr lang="en-US" sz="1300" b="1" dirty="0">
                <a:solidFill>
                  <a:srgbClr val="0E9F8E"/>
                </a:solidFill>
                <a:latin typeface="Arial" panose="020B0604020202020204" pitchFamily="34" charset="0"/>
                <a:ea typeface="Arial" panose="020B0604020202020204" pitchFamily="34" charset="-122"/>
                <a:cs typeface="Arial" panose="020B0604020202020204" pitchFamily="34" charset="-120"/>
              </a:rPr>
              <a:t>User inputs (defaults)</a:t>
            </a:r>
            <a:endParaRPr lang="en-US" sz="1300" dirty="0"/>
          </a:p>
        </p:txBody>
      </p:sp>
      <p:graphicFrame>
        <p:nvGraphicFramePr>
          <p:cNvPr id="7" name="Table 0"/>
          <p:cNvGraphicFramePr>
            <a:graphicFrameLocks noGrp="1"/>
          </p:cNvGraphicFramePr>
          <p:nvPr/>
        </p:nvGraphicFramePr>
        <p:xfrm>
          <a:off x="4892040" y="1234440"/>
          <a:ext cx="3794760" cy="1371600"/>
        </p:xfrm>
        <a:graphic>
          <a:graphicData uri="http://schemas.openxmlformats.org/drawingml/2006/table">
            <a:tbl>
              <a:tblPr/>
              <a:tblGrid>
                <a:gridCol w="1554480"/>
                <a:gridCol w="2240280"/>
              </a:tblGrid>
              <a:tr h="274320">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Number of users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20  (11 semantic, 9 bit)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r>
              <a:tr h="274320">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OFDMA subcarriers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5  (4 users each)</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Total bandwidth</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10 MHz  (2 MHz / subcarrier)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r>
              <a:tr h="274320">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BS power budget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10 W</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Frame duration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1 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r>
            </a:tbl>
          </a:graphicData>
        </a:graphic>
      </p:graphicFrame>
      <p:sp>
        <p:nvSpPr>
          <p:cNvPr id="8" name="Text 4"/>
          <p:cNvSpPr txBox="1"/>
          <p:nvPr/>
        </p:nvSpPr>
        <p:spPr>
          <a:xfrm>
            <a:off x="4892040" y="2788920"/>
            <a:ext cx="3840480" cy="274320"/>
          </a:xfrm>
          <a:prstGeom prst="rect">
            <a:avLst/>
          </a:prstGeom>
          <a:noFill/>
        </p:spPr>
        <p:txBody>
          <a:bodyPr wrap="square" lIns="0" tIns="0" rIns="0" bIns="0" rtlCol="0" anchor="ctr"/>
          <a:lstStyle/>
          <a:p>
            <a:pPr marL="0" indent="0">
              <a:buNone/>
            </a:pPr>
            <a:r>
              <a:rPr lang="en-US" sz="1300" b="1" dirty="0">
                <a:solidFill>
                  <a:srgbClr val="0E9F8E"/>
                </a:solidFill>
                <a:latin typeface="Arial" panose="020B0604020202020204" pitchFamily="34" charset="0"/>
                <a:ea typeface="Arial" panose="020B0604020202020204" pitchFamily="34" charset="-122"/>
                <a:cs typeface="Arial" panose="020B0604020202020204" pitchFamily="34" charset="-120"/>
              </a:rPr>
              <a:t>Simulator assumptions</a:t>
            </a:r>
            <a:endParaRPr lang="en-US" sz="1300" dirty="0"/>
          </a:p>
        </p:txBody>
      </p:sp>
      <p:graphicFrame>
        <p:nvGraphicFramePr>
          <p:cNvPr id="9" name="Table 1"/>
          <p:cNvGraphicFramePr>
            <a:graphicFrameLocks noGrp="1"/>
          </p:cNvGraphicFramePr>
          <p:nvPr/>
        </p:nvGraphicFramePr>
        <p:xfrm>
          <a:off x="4892040" y="3108960"/>
          <a:ext cx="3794760" cy="1097280"/>
        </p:xfrm>
        <a:graphic>
          <a:graphicData uri="http://schemas.openxmlformats.org/drawingml/2006/table">
            <a:tbl>
              <a:tblPr/>
              <a:tblGrid>
                <a:gridCol w="1554480"/>
                <a:gridCol w="2240280"/>
              </a:tblGrid>
              <a:tr h="274320">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Carrier frequency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2.4 GHz</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r>
              <a:tr h="274320">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Small-scale fading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Rayleigh</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274320">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Path-loss exponent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3.0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r>
              <a:tr h="274320">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Noise density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4 × 10⁻²¹ W/Hz</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0" name="Text 5"/>
          <p:cNvSpPr txBox="1"/>
          <p:nvPr/>
        </p:nvSpPr>
        <p:spPr>
          <a:xfrm>
            <a:off x="4892040" y="4297680"/>
            <a:ext cx="3794760" cy="457200"/>
          </a:xfrm>
          <a:prstGeom prst="rect">
            <a:avLst/>
          </a:prstGeom>
          <a:noFill/>
        </p:spPr>
        <p:txBody>
          <a:bodyPr wrap="square" lIns="0" tIns="0" rIns="0" bIns="0" rtlCol="0" anchor="ctr"/>
          <a:lstStyle/>
          <a:p>
            <a:pPr marL="0" indent="0">
              <a:buNone/>
            </a:pPr>
            <a:r>
              <a:rPr lang="en-US" sz="1050" i="1" dirty="0">
                <a:solidFill>
                  <a:srgbClr val="64748B"/>
                </a:solidFill>
                <a:latin typeface="Calibri" panose="020F0502020204030204" pitchFamily="34" charset="0"/>
                <a:ea typeface="Calibri" panose="020F0502020204030204" pitchFamily="34" charset="-122"/>
                <a:cs typeface="Calibri" panose="020F0502020204030204" pitchFamily="34" charset="-120"/>
              </a:rPr>
              <a:t>Per-user position, fading, semantic importance (0.4–1.0) and target rate (0.5–3 Mbps) are generated automatically each frame.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457200" cy="457200"/>
          </a:xfrm>
          <a:prstGeom prst="rect">
            <a:avLst/>
          </a:prstGeom>
          <a:noFill/>
        </p:spPr>
        <p:txBody>
          <a:bodyPr wrap="square" lIns="0" tIns="0" rIns="0" bIns="0" rtlCol="0" anchor="ctr"/>
          <a:lstStyle/>
          <a:p>
            <a:pPr marL="0" indent="0">
              <a:buNone/>
            </a:pPr>
            <a:endParaRPr lang="en-US" sz="1300" dirty="0"/>
          </a:p>
        </p:txBody>
      </p:sp>
      <p:sp>
        <p:nvSpPr>
          <p:cNvPr id="3" name="Text 1"/>
          <p:cNvSpPr txBox="1"/>
          <p:nvPr/>
        </p:nvSpPr>
        <p:spPr>
          <a:xfrm>
            <a:off x="868680" y="274320"/>
            <a:ext cx="7863840" cy="530352"/>
          </a:xfrm>
          <a:prstGeom prst="rect">
            <a:avLst/>
          </a:prstGeom>
          <a:noFill/>
        </p:spPr>
        <p:txBody>
          <a:bodyPr wrap="square" lIns="0" tIns="0" rIns="0" bIns="0" rtlCol="0" anchor="ctr"/>
          <a:lstStyle/>
          <a:p>
            <a:pPr marL="0" indent="0">
              <a:buNone/>
            </a:pPr>
            <a:r>
              <a:rPr lang="en-US" sz="2400" b="1" dirty="0">
                <a:solidFill>
                  <a:srgbClr val="0B1426"/>
                </a:solidFill>
                <a:latin typeface="Arial" panose="020B0604020202020204" pitchFamily="34" charset="0"/>
                <a:ea typeface="Arial" panose="020B0604020202020204" pitchFamily="34" charset="-122"/>
                <a:cs typeface="Arial" panose="020B0604020202020204" pitchFamily="34" charset="-120"/>
              </a:rPr>
              <a:t>Hybrid NOMA-OFDMA Scheduling &amp; Semantic Utility</a:t>
            </a:r>
            <a:endParaRPr lang="en-US" sz="2400" dirty="0"/>
          </a:p>
        </p:txBody>
      </p:sp>
      <p:sp>
        <p:nvSpPr>
          <p:cNvPr id="4" name="Text 2"/>
          <p:cNvSpPr txBox="1"/>
          <p:nvPr/>
        </p:nvSpPr>
        <p:spPr>
          <a:xfrm>
            <a:off x="457200" y="4828032"/>
            <a:ext cx="5486400" cy="201168"/>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SAC · Semantic-Aware Hybrid NOMA  |  ML (25SC2107E) Review 2</a:t>
            </a:r>
            <a:endParaRPr lang="en-US" sz="900" dirty="0"/>
          </a:p>
        </p:txBody>
      </p:sp>
      <p:sp>
        <p:nvSpPr>
          <p:cNvPr id="5" name="Shape 3"/>
          <p:cNvSpPr/>
          <p:nvPr/>
        </p:nvSpPr>
        <p:spPr>
          <a:xfrm>
            <a:off x="457200" y="1005840"/>
            <a:ext cx="1828800" cy="1600200"/>
          </a:xfrm>
          <a:prstGeom prst="roundRect">
            <a:avLst>
              <a:gd name="adj" fmla="val 4571"/>
            </a:avLst>
          </a:prstGeom>
          <a:solidFill>
            <a:srgbClr val="F1F5F9"/>
          </a:solidFill>
          <a:ln w="12700">
            <a:solidFill>
              <a:srgbClr val="F1F5F9"/>
            </a:solidFill>
            <a:prstDash val="solid"/>
          </a:ln>
        </p:spPr>
      </p:sp>
      <p:sp>
        <p:nvSpPr>
          <p:cNvPr id="6" name="Shape 4"/>
          <p:cNvSpPr/>
          <p:nvPr/>
        </p:nvSpPr>
        <p:spPr>
          <a:xfrm>
            <a:off x="1097280" y="1143000"/>
            <a:ext cx="548640" cy="548640"/>
          </a:xfrm>
          <a:prstGeom prst="ellipse">
            <a:avLst/>
          </a:prstGeom>
          <a:solidFill>
            <a:srgbClr val="0E9F8E"/>
          </a:solidFill>
          <a:ln w="12700">
            <a:solidFill>
              <a:srgbClr val="0E9F8E"/>
            </a:solidFill>
            <a:prstDash val="solid"/>
          </a:ln>
        </p:spPr>
      </p:sp>
      <p:pic>
        <p:nvPicPr>
          <p:cNvPr id="7" name="Image 0" descr="preencoded.png"/>
          <p:cNvPicPr>
            <a:picLocks noChangeAspect="1"/>
          </p:cNvPicPr>
          <p:nvPr/>
        </p:nvPicPr>
        <p:blipFill>
          <a:blip r:embed="rId1"/>
          <a:stretch>
            <a:fillRect/>
          </a:stretch>
        </p:blipFill>
        <p:spPr>
          <a:xfrm>
            <a:off x="1239926" y="1285646"/>
            <a:ext cx="263347" cy="263347"/>
          </a:xfrm>
          <a:prstGeom prst="rect">
            <a:avLst/>
          </a:prstGeom>
        </p:spPr>
      </p:pic>
      <p:sp>
        <p:nvSpPr>
          <p:cNvPr id="8" name="Text 5"/>
          <p:cNvSpPr txBox="1"/>
          <p:nvPr/>
        </p:nvSpPr>
        <p:spPr>
          <a:xfrm>
            <a:off x="548640" y="1755648"/>
            <a:ext cx="1645920" cy="77724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Sort users</a:t>
            </a:r>
            <a:endParaRPr lang="en-US" sz="1300" dirty="0"/>
          </a:p>
          <a:p>
            <a:pPr marL="0" indent="0" algn="ctr">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by channel gain, weak → strong</a:t>
            </a:r>
            <a:endParaRPr lang="en-US" sz="1300" dirty="0"/>
          </a:p>
        </p:txBody>
      </p:sp>
      <p:sp>
        <p:nvSpPr>
          <p:cNvPr id="9" name="Text 6"/>
          <p:cNvSpPr txBox="1"/>
          <p:nvPr/>
        </p:nvSpPr>
        <p:spPr>
          <a:xfrm>
            <a:off x="2286000" y="1554480"/>
            <a:ext cx="274320" cy="457200"/>
          </a:xfrm>
          <a:prstGeom prst="rect">
            <a:avLst/>
          </a:prstGeom>
          <a:noFill/>
        </p:spPr>
        <p:txBody>
          <a:bodyPr wrap="square" lIns="0" tIns="0" rIns="0" bIns="0" rtlCol="0" anchor="ctr"/>
          <a:lstStyle/>
          <a:p>
            <a:pPr marL="0" indent="0" algn="ctr">
              <a:buNone/>
            </a:pPr>
            <a:r>
              <a:rPr lang="en-US" sz="2600" b="1" dirty="0">
                <a:solidFill>
                  <a:srgbClr val="0E9F8E"/>
                </a:solidFill>
                <a:latin typeface="Arial" panose="020B0604020202020204" pitchFamily="34" charset="0"/>
                <a:ea typeface="Arial" panose="020B0604020202020204" pitchFamily="34" charset="-122"/>
                <a:cs typeface="Arial" panose="020B0604020202020204" pitchFamily="34" charset="-120"/>
              </a:rPr>
              <a:t>›</a:t>
            </a:r>
            <a:endParaRPr lang="en-US" sz="2600" dirty="0"/>
          </a:p>
        </p:txBody>
      </p:sp>
      <p:sp>
        <p:nvSpPr>
          <p:cNvPr id="10" name="Shape 7"/>
          <p:cNvSpPr/>
          <p:nvPr/>
        </p:nvSpPr>
        <p:spPr>
          <a:xfrm>
            <a:off x="2560320" y="1005840"/>
            <a:ext cx="1828800" cy="1600200"/>
          </a:xfrm>
          <a:prstGeom prst="roundRect">
            <a:avLst>
              <a:gd name="adj" fmla="val 4571"/>
            </a:avLst>
          </a:prstGeom>
          <a:solidFill>
            <a:srgbClr val="F1F5F9"/>
          </a:solidFill>
          <a:ln w="12700">
            <a:solidFill>
              <a:srgbClr val="F1F5F9"/>
            </a:solidFill>
            <a:prstDash val="solid"/>
          </a:ln>
        </p:spPr>
      </p:sp>
      <p:sp>
        <p:nvSpPr>
          <p:cNvPr id="11" name="Shape 8"/>
          <p:cNvSpPr/>
          <p:nvPr/>
        </p:nvSpPr>
        <p:spPr>
          <a:xfrm>
            <a:off x="3200400" y="1143000"/>
            <a:ext cx="548640" cy="548640"/>
          </a:xfrm>
          <a:prstGeom prst="ellipse">
            <a:avLst/>
          </a:prstGeom>
          <a:solidFill>
            <a:srgbClr val="0E9F8E"/>
          </a:solidFill>
          <a:ln w="12700">
            <a:solidFill>
              <a:srgbClr val="0E9F8E"/>
            </a:solidFill>
            <a:prstDash val="solid"/>
          </a:ln>
        </p:spPr>
      </p:sp>
      <p:pic>
        <p:nvPicPr>
          <p:cNvPr id="12" name="Image 1" descr="preencoded.png"/>
          <p:cNvPicPr>
            <a:picLocks noChangeAspect="1"/>
          </p:cNvPicPr>
          <p:nvPr/>
        </p:nvPicPr>
        <p:blipFill>
          <a:blip r:embed="rId2"/>
          <a:stretch>
            <a:fillRect/>
          </a:stretch>
        </p:blipFill>
        <p:spPr>
          <a:xfrm>
            <a:off x="3343046" y="1285646"/>
            <a:ext cx="263347" cy="263347"/>
          </a:xfrm>
          <a:prstGeom prst="rect">
            <a:avLst/>
          </a:prstGeom>
        </p:spPr>
      </p:pic>
      <p:sp>
        <p:nvSpPr>
          <p:cNvPr id="13" name="Text 9"/>
          <p:cNvSpPr txBox="1"/>
          <p:nvPr/>
        </p:nvSpPr>
        <p:spPr>
          <a:xfrm>
            <a:off x="2651760" y="1755648"/>
            <a:ext cx="1645920" cy="77724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OFDMA split</a:t>
            </a:r>
            <a:endParaRPr lang="en-US" sz="1300" dirty="0"/>
          </a:p>
          <a:p>
            <a:pPr marL="0" indent="0" algn="ctr">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round-robin onto 5 orthogonal subcarriers</a:t>
            </a:r>
            <a:endParaRPr lang="en-US" sz="1300" dirty="0"/>
          </a:p>
        </p:txBody>
      </p:sp>
      <p:sp>
        <p:nvSpPr>
          <p:cNvPr id="14" name="Text 10"/>
          <p:cNvSpPr txBox="1"/>
          <p:nvPr/>
        </p:nvSpPr>
        <p:spPr>
          <a:xfrm>
            <a:off x="4389120" y="1554480"/>
            <a:ext cx="274320" cy="457200"/>
          </a:xfrm>
          <a:prstGeom prst="rect">
            <a:avLst/>
          </a:prstGeom>
          <a:noFill/>
        </p:spPr>
        <p:txBody>
          <a:bodyPr wrap="square" lIns="0" tIns="0" rIns="0" bIns="0" rtlCol="0" anchor="ctr"/>
          <a:lstStyle/>
          <a:p>
            <a:pPr marL="0" indent="0" algn="ctr">
              <a:buNone/>
            </a:pPr>
            <a:r>
              <a:rPr lang="en-US" sz="2600" b="1" dirty="0">
                <a:solidFill>
                  <a:srgbClr val="0E9F8E"/>
                </a:solidFill>
                <a:latin typeface="Arial" panose="020B0604020202020204" pitchFamily="34" charset="0"/>
                <a:ea typeface="Arial" panose="020B0604020202020204" pitchFamily="34" charset="-122"/>
                <a:cs typeface="Arial" panose="020B0604020202020204" pitchFamily="34" charset="-120"/>
              </a:rPr>
              <a:t>›</a:t>
            </a:r>
            <a:endParaRPr lang="en-US" sz="2600" dirty="0"/>
          </a:p>
        </p:txBody>
      </p:sp>
      <p:sp>
        <p:nvSpPr>
          <p:cNvPr id="15" name="Shape 11"/>
          <p:cNvSpPr/>
          <p:nvPr/>
        </p:nvSpPr>
        <p:spPr>
          <a:xfrm>
            <a:off x="4663440" y="1005840"/>
            <a:ext cx="1828800" cy="1600200"/>
          </a:xfrm>
          <a:prstGeom prst="roundRect">
            <a:avLst>
              <a:gd name="adj" fmla="val 4571"/>
            </a:avLst>
          </a:prstGeom>
          <a:solidFill>
            <a:srgbClr val="F1F5F9"/>
          </a:solidFill>
          <a:ln w="12700">
            <a:solidFill>
              <a:srgbClr val="F1F5F9"/>
            </a:solidFill>
            <a:prstDash val="solid"/>
          </a:ln>
        </p:spPr>
      </p:sp>
      <p:sp>
        <p:nvSpPr>
          <p:cNvPr id="16" name="Shape 12"/>
          <p:cNvSpPr/>
          <p:nvPr/>
        </p:nvSpPr>
        <p:spPr>
          <a:xfrm>
            <a:off x="5303520" y="1143000"/>
            <a:ext cx="548640" cy="548640"/>
          </a:xfrm>
          <a:prstGeom prst="ellipse">
            <a:avLst/>
          </a:prstGeom>
          <a:solidFill>
            <a:srgbClr val="0E9F8E"/>
          </a:solidFill>
          <a:ln w="12700">
            <a:solidFill>
              <a:srgbClr val="0E9F8E"/>
            </a:solidFill>
            <a:prstDash val="solid"/>
          </a:ln>
        </p:spPr>
      </p:sp>
      <p:pic>
        <p:nvPicPr>
          <p:cNvPr id="17" name="Image 2" descr="preencoded.png"/>
          <p:cNvPicPr>
            <a:picLocks noChangeAspect="1"/>
          </p:cNvPicPr>
          <p:nvPr/>
        </p:nvPicPr>
        <p:blipFill>
          <a:blip r:embed="rId3"/>
          <a:stretch>
            <a:fillRect/>
          </a:stretch>
        </p:blipFill>
        <p:spPr>
          <a:xfrm>
            <a:off x="5446166" y="1285646"/>
            <a:ext cx="263347" cy="263347"/>
          </a:xfrm>
          <a:prstGeom prst="rect">
            <a:avLst/>
          </a:prstGeom>
        </p:spPr>
      </p:pic>
      <p:sp>
        <p:nvSpPr>
          <p:cNvPr id="18" name="Text 13"/>
          <p:cNvSpPr txBox="1"/>
          <p:nvPr/>
        </p:nvSpPr>
        <p:spPr>
          <a:xfrm>
            <a:off x="4754880" y="1755648"/>
            <a:ext cx="1645920" cy="77724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NOMA cluster</a:t>
            </a:r>
            <a:endParaRPr lang="en-US" sz="1300" dirty="0"/>
          </a:p>
          <a:p>
            <a:pPr marL="0" indent="0" algn="ctr">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4 users share each subcarrier via SIC</a:t>
            </a:r>
            <a:endParaRPr lang="en-US" sz="1300" dirty="0"/>
          </a:p>
        </p:txBody>
      </p:sp>
      <p:sp>
        <p:nvSpPr>
          <p:cNvPr id="19" name="Text 14"/>
          <p:cNvSpPr txBox="1"/>
          <p:nvPr/>
        </p:nvSpPr>
        <p:spPr>
          <a:xfrm>
            <a:off x="6492240" y="1554480"/>
            <a:ext cx="274320" cy="457200"/>
          </a:xfrm>
          <a:prstGeom prst="rect">
            <a:avLst/>
          </a:prstGeom>
          <a:noFill/>
        </p:spPr>
        <p:txBody>
          <a:bodyPr wrap="square" lIns="0" tIns="0" rIns="0" bIns="0" rtlCol="0" anchor="ctr"/>
          <a:lstStyle/>
          <a:p>
            <a:pPr marL="0" indent="0" algn="ctr">
              <a:buNone/>
            </a:pPr>
            <a:r>
              <a:rPr lang="en-US" sz="2600" b="1" dirty="0">
                <a:solidFill>
                  <a:srgbClr val="0E9F8E"/>
                </a:solidFill>
                <a:latin typeface="Arial" panose="020B0604020202020204" pitchFamily="34" charset="0"/>
                <a:ea typeface="Arial" panose="020B0604020202020204" pitchFamily="34" charset="-122"/>
                <a:cs typeface="Arial" panose="020B0604020202020204" pitchFamily="34" charset="-120"/>
              </a:rPr>
              <a:t>›</a:t>
            </a:r>
            <a:endParaRPr lang="en-US" sz="2600" dirty="0"/>
          </a:p>
        </p:txBody>
      </p:sp>
      <p:sp>
        <p:nvSpPr>
          <p:cNvPr id="20" name="Shape 15"/>
          <p:cNvSpPr/>
          <p:nvPr/>
        </p:nvSpPr>
        <p:spPr>
          <a:xfrm>
            <a:off x="6766560" y="1005840"/>
            <a:ext cx="1828800" cy="1600200"/>
          </a:xfrm>
          <a:prstGeom prst="roundRect">
            <a:avLst>
              <a:gd name="adj" fmla="val 4571"/>
            </a:avLst>
          </a:prstGeom>
          <a:solidFill>
            <a:srgbClr val="F1F5F9"/>
          </a:solidFill>
          <a:ln w="12700">
            <a:solidFill>
              <a:srgbClr val="F1F5F9"/>
            </a:solidFill>
            <a:prstDash val="solid"/>
          </a:ln>
        </p:spPr>
      </p:sp>
      <p:sp>
        <p:nvSpPr>
          <p:cNvPr id="21" name="Shape 16"/>
          <p:cNvSpPr/>
          <p:nvPr/>
        </p:nvSpPr>
        <p:spPr>
          <a:xfrm>
            <a:off x="7406640" y="1143000"/>
            <a:ext cx="548640" cy="548640"/>
          </a:xfrm>
          <a:prstGeom prst="ellipse">
            <a:avLst/>
          </a:prstGeom>
          <a:solidFill>
            <a:srgbClr val="E89B0C"/>
          </a:solidFill>
          <a:ln w="12700">
            <a:solidFill>
              <a:srgbClr val="E89B0C"/>
            </a:solidFill>
            <a:prstDash val="solid"/>
          </a:ln>
        </p:spPr>
      </p:sp>
      <p:pic>
        <p:nvPicPr>
          <p:cNvPr id="22" name="Image 3" descr="preencoded.png"/>
          <p:cNvPicPr>
            <a:picLocks noChangeAspect="1"/>
          </p:cNvPicPr>
          <p:nvPr/>
        </p:nvPicPr>
        <p:blipFill>
          <a:blip r:embed="rId4"/>
          <a:stretch>
            <a:fillRect/>
          </a:stretch>
        </p:blipFill>
        <p:spPr>
          <a:xfrm>
            <a:off x="7549286" y="1285646"/>
            <a:ext cx="263347" cy="263347"/>
          </a:xfrm>
          <a:prstGeom prst="rect">
            <a:avLst/>
          </a:prstGeom>
        </p:spPr>
      </p:pic>
      <p:sp>
        <p:nvSpPr>
          <p:cNvPr id="23" name="Text 17"/>
          <p:cNvSpPr txBox="1"/>
          <p:nvPr/>
        </p:nvSpPr>
        <p:spPr>
          <a:xfrm>
            <a:off x="6858000" y="1755648"/>
            <a:ext cx="1645920" cy="77724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Evaluate</a:t>
            </a:r>
            <a:endParaRPr lang="en-US" sz="1300" dirty="0"/>
          </a:p>
          <a:p>
            <a:pPr marL="0" indent="0" algn="ctr">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SINR, rate and semantic utility per user</a:t>
            </a:r>
            <a:endParaRPr lang="en-US" sz="1300" dirty="0"/>
          </a:p>
        </p:txBody>
      </p:sp>
      <p:sp>
        <p:nvSpPr>
          <p:cNvPr id="24" name="Shape 18"/>
          <p:cNvSpPr/>
          <p:nvPr/>
        </p:nvSpPr>
        <p:spPr>
          <a:xfrm>
            <a:off x="457200" y="2788920"/>
            <a:ext cx="8229600" cy="530352"/>
          </a:xfrm>
          <a:prstGeom prst="rect">
            <a:avLst/>
          </a:prstGeom>
          <a:solidFill>
            <a:srgbClr val="FFFFFF"/>
          </a:solidFill>
          <a:ln w="12700">
            <a:solidFill>
              <a:srgbClr val="E2E8F0"/>
            </a:solidFill>
            <a:prstDash val="solid"/>
          </a:ln>
        </p:spPr>
      </p:sp>
      <p:sp>
        <p:nvSpPr>
          <p:cNvPr id="25" name="Text 19"/>
          <p:cNvSpPr txBox="1"/>
          <p:nvPr/>
        </p:nvSpPr>
        <p:spPr>
          <a:xfrm>
            <a:off x="640080" y="2788920"/>
            <a:ext cx="3931920" cy="530352"/>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SINR (P_str = power of stronger users in the same cluster)</a:t>
            </a:r>
            <a:endParaRPr lang="en-US" sz="1150" dirty="0"/>
          </a:p>
        </p:txBody>
      </p:sp>
      <p:sp>
        <p:nvSpPr>
          <p:cNvPr id="26" name="Text 20"/>
          <p:cNvSpPr txBox="1"/>
          <p:nvPr/>
        </p:nvSpPr>
        <p:spPr>
          <a:xfrm>
            <a:off x="4572000" y="2788920"/>
            <a:ext cx="3977640" cy="530352"/>
          </a:xfrm>
          <a:prstGeom prst="rect">
            <a:avLst/>
          </a:prstGeom>
          <a:noFill/>
        </p:spPr>
        <p:txBody>
          <a:bodyPr wrap="square" lIns="0" tIns="0" rIns="0" bIns="0" rtlCol="0" anchor="ctr"/>
          <a:lstStyle/>
          <a:p>
            <a:pPr marL="0" indent="0">
              <a:buNone/>
            </a:pPr>
            <a:r>
              <a:rPr lang="en-US" sz="1500" b="1" dirty="0">
                <a:solidFill>
                  <a:srgbClr val="0B1426"/>
                </a:solidFill>
                <a:latin typeface="Cambria" panose="02040503050406030204" pitchFamily="34" charset="0"/>
                <a:ea typeface="Cambria" panose="02040503050406030204" pitchFamily="34" charset="-122"/>
                <a:cs typeface="Cambria" panose="02040503050406030204" pitchFamily="34" charset="-120"/>
              </a:rPr>
              <a:t>SINRᵤ = pᵤ gᵤ / ( gᵤ · P_str + σ² )</a:t>
            </a:r>
            <a:endParaRPr lang="en-US" sz="1500" dirty="0"/>
          </a:p>
        </p:txBody>
      </p:sp>
      <p:sp>
        <p:nvSpPr>
          <p:cNvPr id="27" name="Shape 21"/>
          <p:cNvSpPr/>
          <p:nvPr/>
        </p:nvSpPr>
        <p:spPr>
          <a:xfrm>
            <a:off x="457200" y="3392424"/>
            <a:ext cx="8229600" cy="530352"/>
          </a:xfrm>
          <a:prstGeom prst="rect">
            <a:avLst/>
          </a:prstGeom>
          <a:solidFill>
            <a:srgbClr val="FFFFFF"/>
          </a:solidFill>
          <a:ln w="12700">
            <a:solidFill>
              <a:srgbClr val="E2E8F0"/>
            </a:solidFill>
            <a:prstDash val="solid"/>
          </a:ln>
        </p:spPr>
      </p:sp>
      <p:sp>
        <p:nvSpPr>
          <p:cNvPr id="28" name="Text 22"/>
          <p:cNvSpPr txBox="1"/>
          <p:nvPr/>
        </p:nvSpPr>
        <p:spPr>
          <a:xfrm>
            <a:off x="640080" y="3392424"/>
            <a:ext cx="3931920" cy="530352"/>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Achievable rate on subcarrier bandwidth B_sc</a:t>
            </a:r>
            <a:endParaRPr lang="en-US" sz="1150" dirty="0"/>
          </a:p>
        </p:txBody>
      </p:sp>
      <p:sp>
        <p:nvSpPr>
          <p:cNvPr id="29" name="Text 23"/>
          <p:cNvSpPr txBox="1"/>
          <p:nvPr/>
        </p:nvSpPr>
        <p:spPr>
          <a:xfrm>
            <a:off x="4572000" y="3392424"/>
            <a:ext cx="3977640" cy="530352"/>
          </a:xfrm>
          <a:prstGeom prst="rect">
            <a:avLst/>
          </a:prstGeom>
          <a:noFill/>
        </p:spPr>
        <p:txBody>
          <a:bodyPr wrap="square" lIns="0" tIns="0" rIns="0" bIns="0" rtlCol="0" anchor="ctr"/>
          <a:lstStyle/>
          <a:p>
            <a:pPr marL="0" indent="0">
              <a:buNone/>
            </a:pPr>
            <a:r>
              <a:rPr lang="en-US" sz="1500" b="1" dirty="0">
                <a:solidFill>
                  <a:srgbClr val="0B1426"/>
                </a:solidFill>
                <a:latin typeface="Cambria" panose="02040503050406030204" pitchFamily="34" charset="0"/>
                <a:ea typeface="Cambria" panose="02040503050406030204" pitchFamily="34" charset="-122"/>
                <a:cs typeface="Cambria" panose="02040503050406030204" pitchFamily="34" charset="-120"/>
              </a:rPr>
              <a:t>Rᵤ = B_sc · log₂(1 + SINRᵤ)</a:t>
            </a:r>
            <a:endParaRPr lang="en-US" sz="1500" dirty="0"/>
          </a:p>
        </p:txBody>
      </p:sp>
      <p:sp>
        <p:nvSpPr>
          <p:cNvPr id="30" name="Shape 24"/>
          <p:cNvSpPr/>
          <p:nvPr/>
        </p:nvSpPr>
        <p:spPr>
          <a:xfrm>
            <a:off x="457200" y="3995928"/>
            <a:ext cx="8229600" cy="530352"/>
          </a:xfrm>
          <a:prstGeom prst="rect">
            <a:avLst/>
          </a:prstGeom>
          <a:solidFill>
            <a:srgbClr val="FDF1D6"/>
          </a:solidFill>
          <a:ln w="12700">
            <a:solidFill>
              <a:srgbClr val="E2E8F0"/>
            </a:solidFill>
            <a:prstDash val="solid"/>
          </a:ln>
        </p:spPr>
      </p:sp>
      <p:sp>
        <p:nvSpPr>
          <p:cNvPr id="31" name="Text 25"/>
          <p:cNvSpPr txBox="1"/>
          <p:nvPr/>
        </p:nvSpPr>
        <p:spPr>
          <a:xfrm>
            <a:off x="640080" y="3995928"/>
            <a:ext cx="3931920" cy="530352"/>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Semantic utility (importance-weighted delivered information)</a:t>
            </a:r>
            <a:endParaRPr lang="en-US" sz="1150" dirty="0"/>
          </a:p>
        </p:txBody>
      </p:sp>
      <p:sp>
        <p:nvSpPr>
          <p:cNvPr id="32" name="Text 26"/>
          <p:cNvSpPr txBox="1"/>
          <p:nvPr/>
        </p:nvSpPr>
        <p:spPr>
          <a:xfrm>
            <a:off x="4572000" y="3995928"/>
            <a:ext cx="3977640" cy="530352"/>
          </a:xfrm>
          <a:prstGeom prst="rect">
            <a:avLst/>
          </a:prstGeom>
          <a:noFill/>
        </p:spPr>
        <p:txBody>
          <a:bodyPr wrap="square" lIns="0" tIns="0" rIns="0" bIns="0" rtlCol="0" anchor="ctr"/>
          <a:lstStyle/>
          <a:p>
            <a:pPr marL="0" indent="0">
              <a:buNone/>
            </a:pPr>
            <a:r>
              <a:rPr lang="en-US" sz="1500" b="1" dirty="0">
                <a:solidFill>
                  <a:srgbClr val="0B1426"/>
                </a:solidFill>
                <a:latin typeface="Cambria" panose="02040503050406030204" pitchFamily="34" charset="0"/>
                <a:ea typeface="Cambria" panose="02040503050406030204" pitchFamily="34" charset="-122"/>
                <a:cs typeface="Cambria" panose="02040503050406030204" pitchFamily="34" charset="-120"/>
              </a:rPr>
              <a:t>U_sem = Σᵤ sᵤ · Rᵤ · τᵤ T</a:t>
            </a:r>
            <a:endParaRPr lang="en-US" sz="1500" dirty="0"/>
          </a:p>
        </p:txBody>
      </p:sp>
      <p:sp>
        <p:nvSpPr>
          <p:cNvPr id="33" name="Text 27"/>
          <p:cNvSpPr txBox="1"/>
          <p:nvPr/>
        </p:nvSpPr>
        <p:spPr>
          <a:xfrm>
            <a:off x="457200" y="4572000"/>
            <a:ext cx="8229600" cy="201168"/>
          </a:xfrm>
          <a:prstGeom prst="rect">
            <a:avLst/>
          </a:prstGeom>
          <a:noFill/>
        </p:spPr>
        <p:txBody>
          <a:bodyPr wrap="square" lIns="0" tIns="0" rIns="0" bIns="0" rtlCol="0" anchor="ctr"/>
          <a:lstStyle/>
          <a:p>
            <a:pPr marL="0" indent="0">
              <a:buNone/>
            </a:pPr>
            <a:r>
              <a:rPr lang="en-US" sz="950" i="1" dirty="0">
                <a:solidFill>
                  <a:srgbClr val="64748B"/>
                </a:solidFill>
                <a:latin typeface="Calibri" panose="020F0502020204030204" pitchFamily="34" charset="0"/>
                <a:ea typeface="Calibri" panose="020F0502020204030204" pitchFamily="34" charset="-122"/>
                <a:cs typeface="Calibri" panose="020F0502020204030204" pitchFamily="34" charset="-120"/>
              </a:rPr>
              <a:t>pᵤ: power · gᵤ: channel gain · τᵤ: time fraction · T: frame duration · sᵤ: semantic importance (0 for bit users)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457200" cy="457200"/>
          </a:xfrm>
          <a:prstGeom prst="rect">
            <a:avLst/>
          </a:prstGeom>
          <a:noFill/>
        </p:spPr>
        <p:txBody>
          <a:bodyPr wrap="square" lIns="0" tIns="0" rIns="0" bIns="0" rtlCol="0" anchor="ctr"/>
          <a:lstStyle/>
          <a:p>
            <a:pPr marL="0" indent="0">
              <a:buNone/>
            </a:pPr>
            <a:endParaRPr lang="en-US" sz="1300" dirty="0"/>
          </a:p>
        </p:txBody>
      </p:sp>
      <p:sp>
        <p:nvSpPr>
          <p:cNvPr id="3" name="Text 1"/>
          <p:cNvSpPr txBox="1"/>
          <p:nvPr/>
        </p:nvSpPr>
        <p:spPr>
          <a:xfrm>
            <a:off x="868680" y="274320"/>
            <a:ext cx="7863840" cy="530352"/>
          </a:xfrm>
          <a:prstGeom prst="rect">
            <a:avLst/>
          </a:prstGeom>
          <a:noFill/>
        </p:spPr>
        <p:txBody>
          <a:bodyPr wrap="square" lIns="0" tIns="0" rIns="0" bIns="0" rtlCol="0" anchor="ctr"/>
          <a:lstStyle/>
          <a:p>
            <a:pPr marL="0" indent="0">
              <a:buNone/>
            </a:pPr>
            <a:r>
              <a:rPr lang="en-US" sz="2400" b="1" dirty="0">
                <a:solidFill>
                  <a:srgbClr val="0B1426"/>
                </a:solidFill>
                <a:latin typeface="Arial" panose="020B0604020202020204" pitchFamily="34" charset="0"/>
                <a:ea typeface="Arial" panose="020B0604020202020204" pitchFamily="34" charset="-122"/>
                <a:cs typeface="Arial" panose="020B0604020202020204" pitchFamily="34" charset="-120"/>
              </a:rPr>
              <a:t>Proposed Method: SAC Problem Formulation</a:t>
            </a:r>
            <a:endParaRPr lang="en-US" sz="2400" dirty="0"/>
          </a:p>
        </p:txBody>
      </p:sp>
      <p:sp>
        <p:nvSpPr>
          <p:cNvPr id="4" name="Text 2"/>
          <p:cNvSpPr txBox="1"/>
          <p:nvPr/>
        </p:nvSpPr>
        <p:spPr>
          <a:xfrm>
            <a:off x="457200" y="4828032"/>
            <a:ext cx="5486400" cy="201168"/>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SAC · Semantic-Aware Hybrid NOMA  |  ML (25SC2107E) Review 2</a:t>
            </a:r>
            <a:endParaRPr lang="en-US" sz="900" dirty="0"/>
          </a:p>
        </p:txBody>
      </p:sp>
      <p:sp>
        <p:nvSpPr>
          <p:cNvPr id="5" name="Shape 3"/>
          <p:cNvSpPr/>
          <p:nvPr/>
        </p:nvSpPr>
        <p:spPr>
          <a:xfrm>
            <a:off x="457200" y="1005840"/>
            <a:ext cx="2743200" cy="2148840"/>
          </a:xfrm>
          <a:prstGeom prst="rect">
            <a:avLst/>
          </a:prstGeom>
          <a:solidFill>
            <a:srgbClr val="F1F5F9"/>
          </a:solidFill>
          <a:ln w="12700">
            <a:solidFill>
              <a:srgbClr val="F1F5F9"/>
            </a:solidFill>
            <a:prstDash val="solid"/>
          </a:ln>
        </p:spPr>
      </p:sp>
      <p:sp>
        <p:nvSpPr>
          <p:cNvPr id="6" name="Shape 4"/>
          <p:cNvSpPr/>
          <p:nvPr/>
        </p:nvSpPr>
        <p:spPr>
          <a:xfrm>
            <a:off x="640080" y="1143000"/>
            <a:ext cx="502920" cy="502920"/>
          </a:xfrm>
          <a:prstGeom prst="ellipse">
            <a:avLst/>
          </a:prstGeom>
          <a:solidFill>
            <a:srgbClr val="0E9F8E"/>
          </a:solidFill>
          <a:ln w="12700">
            <a:solidFill>
              <a:srgbClr val="0E9F8E"/>
            </a:solidFill>
            <a:prstDash val="solid"/>
          </a:ln>
        </p:spPr>
      </p:sp>
      <p:pic>
        <p:nvPicPr>
          <p:cNvPr id="7" name="Image 0" descr="preencoded.png"/>
          <p:cNvPicPr>
            <a:picLocks noChangeAspect="1"/>
          </p:cNvPicPr>
          <p:nvPr/>
        </p:nvPicPr>
        <p:blipFill>
          <a:blip r:embed="rId2"/>
          <a:stretch>
            <a:fillRect/>
          </a:stretch>
        </p:blipFill>
        <p:spPr>
          <a:xfrm>
            <a:off x="770839" y="1273759"/>
            <a:ext cx="241402" cy="241402"/>
          </a:xfrm>
          <a:prstGeom prst="rect">
            <a:avLst/>
          </a:prstGeom>
        </p:spPr>
      </p:pic>
      <p:sp>
        <p:nvSpPr>
          <p:cNvPr id="8" name="Text 5"/>
          <p:cNvSpPr txBox="1"/>
          <p:nvPr/>
        </p:nvSpPr>
        <p:spPr>
          <a:xfrm>
            <a:off x="1280160" y="1143000"/>
            <a:ext cx="1828800" cy="548640"/>
          </a:xfrm>
          <a:prstGeom prst="rect">
            <a:avLst/>
          </a:prstGeom>
          <a:noFill/>
        </p:spPr>
        <p:txBody>
          <a:bodyPr wrap="square" lIns="0" tIns="0" rIns="0" bIns="0" rtlCol="0" anchor="ctr"/>
          <a:lstStyle/>
          <a:p>
            <a:pPr marL="0" indent="0">
              <a:buNone/>
            </a:pPr>
            <a:r>
              <a:rPr lang="en-US" sz="1500" b="1" dirty="0">
                <a:solidFill>
                  <a:srgbClr val="0B1426"/>
                </a:solidFill>
                <a:latin typeface="Calibri" panose="020F0502020204030204" pitchFamily="34" charset="0"/>
                <a:ea typeface="Calibri" panose="020F0502020204030204" pitchFamily="34" charset="-122"/>
                <a:cs typeface="Calibri" panose="020F0502020204030204" pitchFamily="34" charset="-120"/>
              </a:rPr>
              <a:t>State</a:t>
            </a:r>
            <a:endParaRPr lang="en-US" sz="1500" dirty="0"/>
          </a:p>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5 features × 20 users = 100</a:t>
            </a:r>
            <a:endParaRPr lang="en-US" sz="1500" dirty="0"/>
          </a:p>
        </p:txBody>
      </p:sp>
      <p:sp>
        <p:nvSpPr>
          <p:cNvPr id="9" name="Text 6"/>
          <p:cNvSpPr txBox="1"/>
          <p:nvPr/>
        </p:nvSpPr>
        <p:spPr>
          <a:xfrm>
            <a:off x="594360" y="1783080"/>
            <a:ext cx="2514600" cy="1325880"/>
          </a:xfrm>
          <a:prstGeom prst="rect">
            <a:avLst/>
          </a:prstGeom>
          <a:noFill/>
        </p:spPr>
        <p:txBody>
          <a:bodyPr wrap="square" lIns="0" tIns="0" rIns="0" bIns="0" rtlCol="0" anchor="t"/>
          <a:lstStyle/>
          <a:p>
            <a:pPr marL="342900" indent="-342900">
              <a:spcAft>
                <a:spcPts val="300"/>
              </a:spcAft>
              <a:buSzPct val="100000"/>
              <a:buChar char="•"/>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Normalised channel quality</a:t>
            </a:r>
            <a:endParaRPr lang="en-US" sz="1150" dirty="0"/>
          </a:p>
          <a:p>
            <a:pPr marL="342900" indent="-342900">
              <a:spcAft>
                <a:spcPts val="300"/>
              </a:spcAft>
              <a:buSzPct val="100000"/>
              <a:buChar char="•"/>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Normalised distance</a:t>
            </a:r>
            <a:endParaRPr lang="en-US" sz="1150" dirty="0"/>
          </a:p>
          <a:p>
            <a:pPr marL="342900" indent="-342900">
              <a:spcAft>
                <a:spcPts val="300"/>
              </a:spcAft>
              <a:buSzPct val="100000"/>
              <a:buChar char="•"/>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Semantic importance</a:t>
            </a:r>
            <a:endParaRPr lang="en-US" sz="1150" dirty="0"/>
          </a:p>
          <a:p>
            <a:pPr marL="342900" indent="-342900">
              <a:spcAft>
                <a:spcPts val="300"/>
              </a:spcAft>
              <a:buSzPct val="100000"/>
              <a:buChar char="•"/>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Normalised target rate</a:t>
            </a:r>
            <a:endParaRPr lang="en-US" sz="1150" dirty="0"/>
          </a:p>
          <a:p>
            <a:pPr marL="342900" indent="-342900">
              <a:spcAft>
                <a:spcPts val="300"/>
              </a:spcAft>
              <a:buSzPct val="100000"/>
              <a:buChar char="•"/>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Subcarrier index</a:t>
            </a:r>
            <a:endParaRPr lang="en-US" sz="1150" dirty="0"/>
          </a:p>
        </p:txBody>
      </p:sp>
      <p:sp>
        <p:nvSpPr>
          <p:cNvPr id="10" name="Shape 7"/>
          <p:cNvSpPr/>
          <p:nvPr/>
        </p:nvSpPr>
        <p:spPr>
          <a:xfrm>
            <a:off x="3291840" y="1005840"/>
            <a:ext cx="2743200" cy="2148840"/>
          </a:xfrm>
          <a:prstGeom prst="rect">
            <a:avLst/>
          </a:prstGeom>
          <a:solidFill>
            <a:srgbClr val="F1F5F9"/>
          </a:solidFill>
          <a:ln w="12700">
            <a:solidFill>
              <a:srgbClr val="F1F5F9"/>
            </a:solidFill>
            <a:prstDash val="solid"/>
          </a:ln>
        </p:spPr>
      </p:sp>
      <p:sp>
        <p:nvSpPr>
          <p:cNvPr id="11" name="Shape 8"/>
          <p:cNvSpPr/>
          <p:nvPr/>
        </p:nvSpPr>
        <p:spPr>
          <a:xfrm>
            <a:off x="3474720" y="1143000"/>
            <a:ext cx="502920" cy="502920"/>
          </a:xfrm>
          <a:prstGeom prst="ellipse">
            <a:avLst/>
          </a:prstGeom>
          <a:solidFill>
            <a:srgbClr val="0E9F8E"/>
          </a:solidFill>
          <a:ln w="12700">
            <a:solidFill>
              <a:srgbClr val="0E9F8E"/>
            </a:solidFill>
            <a:prstDash val="solid"/>
          </a:ln>
        </p:spPr>
      </p:sp>
      <p:pic>
        <p:nvPicPr>
          <p:cNvPr id="12" name="Image 1" descr="preencoded.png"/>
          <p:cNvPicPr>
            <a:picLocks noChangeAspect="1"/>
          </p:cNvPicPr>
          <p:nvPr/>
        </p:nvPicPr>
        <p:blipFill>
          <a:blip r:embed="rId3"/>
          <a:stretch>
            <a:fillRect/>
          </a:stretch>
        </p:blipFill>
        <p:spPr>
          <a:xfrm>
            <a:off x="3605479" y="1273759"/>
            <a:ext cx="241402" cy="241402"/>
          </a:xfrm>
          <a:prstGeom prst="rect">
            <a:avLst/>
          </a:prstGeom>
        </p:spPr>
      </p:pic>
      <p:sp>
        <p:nvSpPr>
          <p:cNvPr id="13" name="Text 9"/>
          <p:cNvSpPr txBox="1"/>
          <p:nvPr/>
        </p:nvSpPr>
        <p:spPr>
          <a:xfrm>
            <a:off x="4114800" y="1143000"/>
            <a:ext cx="1828800" cy="548640"/>
          </a:xfrm>
          <a:prstGeom prst="rect">
            <a:avLst/>
          </a:prstGeom>
          <a:noFill/>
        </p:spPr>
        <p:txBody>
          <a:bodyPr wrap="square" lIns="0" tIns="0" rIns="0" bIns="0" rtlCol="0" anchor="ctr"/>
          <a:lstStyle/>
          <a:p>
            <a:pPr marL="0" indent="0">
              <a:buNone/>
            </a:pPr>
            <a:r>
              <a:rPr lang="en-US" sz="1500" b="1" dirty="0">
                <a:solidFill>
                  <a:srgbClr val="0B1426"/>
                </a:solidFill>
                <a:latin typeface="Calibri" panose="020F0502020204030204" pitchFamily="34" charset="0"/>
                <a:ea typeface="Calibri" panose="020F0502020204030204" pitchFamily="34" charset="-122"/>
                <a:cs typeface="Calibri" panose="020F0502020204030204" pitchFamily="34" charset="-120"/>
              </a:rPr>
              <a:t>Action</a:t>
            </a:r>
            <a:endParaRPr lang="en-US" sz="1500" dirty="0"/>
          </a:p>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2 × 20 + 1 = 41 (continuous)</a:t>
            </a:r>
            <a:endParaRPr lang="en-US" sz="1500" dirty="0"/>
          </a:p>
        </p:txBody>
      </p:sp>
      <p:sp>
        <p:nvSpPr>
          <p:cNvPr id="14" name="Text 10"/>
          <p:cNvSpPr txBox="1"/>
          <p:nvPr/>
        </p:nvSpPr>
        <p:spPr>
          <a:xfrm>
            <a:off x="3429000" y="1783080"/>
            <a:ext cx="2514600" cy="1325880"/>
          </a:xfrm>
          <a:prstGeom prst="rect">
            <a:avLst/>
          </a:prstGeom>
          <a:noFill/>
        </p:spPr>
        <p:txBody>
          <a:bodyPr wrap="square" lIns="0" tIns="0" rIns="0" bIns="0" rtlCol="0" anchor="t"/>
          <a:lstStyle/>
          <a:p>
            <a:pPr marL="342900" indent="-342900">
              <a:spcAft>
                <a:spcPts val="300"/>
              </a:spcAft>
              <a:buSzPct val="100000"/>
              <a:buChar char="•"/>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20 power logits → softmax split</a:t>
            </a:r>
            <a:endParaRPr lang="en-US" sz="1150" dirty="0"/>
          </a:p>
          <a:p>
            <a:pPr marL="342900" indent="-342900">
              <a:spcAft>
                <a:spcPts val="300"/>
              </a:spcAft>
              <a:buSzPct val="100000"/>
              <a:buChar char="•"/>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20 time logits → softmax split</a:t>
            </a:r>
            <a:endParaRPr lang="en-US" sz="1150" dirty="0"/>
          </a:p>
          <a:p>
            <a:pPr marL="342900" indent="-342900">
              <a:spcAft>
                <a:spcPts val="300"/>
              </a:spcAft>
              <a:buSzPct val="100000"/>
              <a:buChar char="•"/>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1 scalar → fraction of budget used (5–100%)</a:t>
            </a:r>
            <a:endParaRPr lang="en-US" sz="1150" dirty="0"/>
          </a:p>
        </p:txBody>
      </p:sp>
      <p:sp>
        <p:nvSpPr>
          <p:cNvPr id="15" name="Shape 11"/>
          <p:cNvSpPr/>
          <p:nvPr/>
        </p:nvSpPr>
        <p:spPr>
          <a:xfrm>
            <a:off x="6126480" y="1005840"/>
            <a:ext cx="2560320" cy="2148840"/>
          </a:xfrm>
          <a:prstGeom prst="rect">
            <a:avLst/>
          </a:prstGeom>
          <a:solidFill>
            <a:srgbClr val="FDF1D6"/>
          </a:solidFill>
          <a:ln w="12700">
            <a:solidFill>
              <a:srgbClr val="FDF1D6"/>
            </a:solidFill>
            <a:prstDash val="solid"/>
          </a:ln>
        </p:spPr>
      </p:sp>
      <p:sp>
        <p:nvSpPr>
          <p:cNvPr id="16" name="Shape 12"/>
          <p:cNvSpPr/>
          <p:nvPr/>
        </p:nvSpPr>
        <p:spPr>
          <a:xfrm>
            <a:off x="6309360" y="1143000"/>
            <a:ext cx="502920" cy="502920"/>
          </a:xfrm>
          <a:prstGeom prst="ellipse">
            <a:avLst/>
          </a:prstGeom>
          <a:solidFill>
            <a:srgbClr val="E89B0C"/>
          </a:solidFill>
          <a:ln w="12700">
            <a:solidFill>
              <a:srgbClr val="E89B0C"/>
            </a:solidFill>
            <a:prstDash val="solid"/>
          </a:ln>
        </p:spPr>
      </p:sp>
      <p:pic>
        <p:nvPicPr>
          <p:cNvPr id="17" name="Image 2" descr="preencoded.png"/>
          <p:cNvPicPr>
            <a:picLocks noChangeAspect="1"/>
          </p:cNvPicPr>
          <p:nvPr/>
        </p:nvPicPr>
        <p:blipFill>
          <a:blip r:embed="rId4"/>
          <a:stretch>
            <a:fillRect/>
          </a:stretch>
        </p:blipFill>
        <p:spPr>
          <a:xfrm>
            <a:off x="6440119" y="1273759"/>
            <a:ext cx="241402" cy="241402"/>
          </a:xfrm>
          <a:prstGeom prst="rect">
            <a:avLst/>
          </a:prstGeom>
        </p:spPr>
      </p:pic>
      <p:sp>
        <p:nvSpPr>
          <p:cNvPr id="18" name="Text 13"/>
          <p:cNvSpPr txBox="1"/>
          <p:nvPr/>
        </p:nvSpPr>
        <p:spPr>
          <a:xfrm>
            <a:off x="6949440" y="1143000"/>
            <a:ext cx="1691640" cy="548640"/>
          </a:xfrm>
          <a:prstGeom prst="rect">
            <a:avLst/>
          </a:prstGeom>
          <a:noFill/>
        </p:spPr>
        <p:txBody>
          <a:bodyPr wrap="square" lIns="0" tIns="0" rIns="0" bIns="0" rtlCol="0" anchor="ctr"/>
          <a:lstStyle/>
          <a:p>
            <a:pPr marL="0" indent="0">
              <a:buNone/>
            </a:pPr>
            <a:r>
              <a:rPr lang="en-US" sz="1500" b="1" dirty="0">
                <a:solidFill>
                  <a:srgbClr val="0B1426"/>
                </a:solidFill>
                <a:latin typeface="Calibri" panose="020F0502020204030204" pitchFamily="34" charset="0"/>
                <a:ea typeface="Calibri" panose="020F0502020204030204" pitchFamily="34" charset="-122"/>
                <a:cs typeface="Calibri" panose="020F0502020204030204" pitchFamily="34" charset="-120"/>
              </a:rPr>
              <a:t>Reward</a:t>
            </a:r>
            <a:endParaRPr lang="en-US" sz="1500" dirty="0"/>
          </a:p>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weighted multi-objective</a:t>
            </a:r>
            <a:endParaRPr lang="en-US" sz="1500" dirty="0"/>
          </a:p>
        </p:txBody>
      </p:sp>
      <p:graphicFrame>
        <p:nvGraphicFramePr>
          <p:cNvPr id="19" name="Chart 0"/>
          <p:cNvGraphicFramePr/>
          <p:nvPr/>
        </p:nvGraphicFramePr>
        <p:xfrm>
          <a:off x="6172200" y="1691640"/>
          <a:ext cx="2468880" cy="1417320"/>
        </p:xfrm>
        <a:graphic>
          <a:graphicData uri="http://schemas.openxmlformats.org/drawingml/2006/chart">
            <c:chart xmlns:c="http://schemas.openxmlformats.org/drawingml/2006/chart" xmlns:r="http://schemas.openxmlformats.org/officeDocument/2006/relationships" r:id="rId1"/>
          </a:graphicData>
        </a:graphic>
      </p:graphicFrame>
      <p:sp>
        <p:nvSpPr>
          <p:cNvPr id="20" name="Shape 14"/>
          <p:cNvSpPr/>
          <p:nvPr/>
        </p:nvSpPr>
        <p:spPr>
          <a:xfrm>
            <a:off x="457200" y="3383280"/>
            <a:ext cx="8229600" cy="1234440"/>
          </a:xfrm>
          <a:prstGeom prst="roundRect">
            <a:avLst>
              <a:gd name="adj" fmla="val 5926"/>
            </a:avLst>
          </a:prstGeom>
          <a:solidFill>
            <a:srgbClr val="0B1426"/>
          </a:solidFill>
          <a:ln w="12700">
            <a:solidFill>
              <a:srgbClr val="0B1426"/>
            </a:solidFill>
            <a:prstDash val="solid"/>
          </a:ln>
        </p:spPr>
      </p:sp>
      <p:sp>
        <p:nvSpPr>
          <p:cNvPr id="21" name="Text 15"/>
          <p:cNvSpPr txBox="1"/>
          <p:nvPr/>
        </p:nvSpPr>
        <p:spPr>
          <a:xfrm>
            <a:off x="640080" y="3474720"/>
            <a:ext cx="7863840" cy="502920"/>
          </a:xfrm>
          <a:prstGeom prst="rect">
            <a:avLst/>
          </a:prstGeom>
          <a:noFill/>
        </p:spPr>
        <p:txBody>
          <a:bodyPr wrap="square" lIns="0" tIns="0" rIns="0" bIns="0" rtlCol="0" anchor="ctr"/>
          <a:lstStyle/>
          <a:p>
            <a:pPr marL="0" indent="0">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r  =  0.30·Throughput  +  0.30·Semantic utility  +  0.15·QoS  +  0.15·Fairness  +  0.10·Energy eff.</a:t>
            </a:r>
            <a:endParaRPr lang="en-US" sz="1400" dirty="0"/>
          </a:p>
        </p:txBody>
      </p:sp>
      <p:sp>
        <p:nvSpPr>
          <p:cNvPr id="22" name="Text 16"/>
          <p:cNvSpPr txBox="1"/>
          <p:nvPr/>
        </p:nvSpPr>
        <p:spPr>
          <a:xfrm>
            <a:off x="640080" y="3977640"/>
            <a:ext cx="7863840" cy="548640"/>
          </a:xfrm>
          <a:prstGeom prst="rect">
            <a:avLst/>
          </a:prstGeom>
          <a:noFill/>
        </p:spPr>
        <p:txBody>
          <a:bodyPr wrap="square" lIns="0" tIns="0" rIns="0" bIns="0" rtlCol="0" anchor="ctr"/>
          <a:lstStyle/>
          <a:p>
            <a:pPr marL="0" indent="0">
              <a:buNone/>
            </a:pPr>
            <a:r>
              <a:rPr lang="en-US" sz="1200" dirty="0">
                <a:solidFill>
                  <a:srgbClr val="CBD5E1"/>
                </a:solidFill>
                <a:latin typeface="Calibri" panose="020F0502020204030204" pitchFamily="34" charset="0"/>
                <a:ea typeface="Calibri" panose="020F0502020204030204" pitchFamily="34" charset="-122"/>
                <a:cs typeface="Calibri" panose="020F0502020204030204" pitchFamily="34" charset="-120"/>
              </a:rPr>
              <a:t>Softmax guarantees Σ power ≤ budget and Σ time = one frame, so every action is feasible by construction; one frame = one decision (episode).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457200" cy="457200"/>
          </a:xfrm>
          <a:prstGeom prst="rect">
            <a:avLst/>
          </a:prstGeom>
          <a:noFill/>
        </p:spPr>
        <p:txBody>
          <a:bodyPr wrap="square" lIns="0" tIns="0" rIns="0" bIns="0" rtlCol="0" anchor="ctr"/>
          <a:lstStyle/>
          <a:p>
            <a:pPr marL="0" indent="0">
              <a:buNone/>
            </a:pPr>
            <a:endParaRPr lang="en-US" sz="1300" dirty="0"/>
          </a:p>
        </p:txBody>
      </p:sp>
      <p:sp>
        <p:nvSpPr>
          <p:cNvPr id="3" name="Text 1"/>
          <p:cNvSpPr txBox="1"/>
          <p:nvPr/>
        </p:nvSpPr>
        <p:spPr>
          <a:xfrm>
            <a:off x="868680" y="274320"/>
            <a:ext cx="7863840" cy="530352"/>
          </a:xfrm>
          <a:prstGeom prst="rect">
            <a:avLst/>
          </a:prstGeom>
          <a:noFill/>
        </p:spPr>
        <p:txBody>
          <a:bodyPr wrap="square" lIns="0" tIns="0" rIns="0" bIns="0" rtlCol="0" anchor="ctr"/>
          <a:lstStyle/>
          <a:p>
            <a:pPr marL="0" indent="0">
              <a:buNone/>
            </a:pPr>
            <a:r>
              <a:rPr lang="en-US" sz="2400" b="1" dirty="0">
                <a:solidFill>
                  <a:srgbClr val="0B1426"/>
                </a:solidFill>
                <a:latin typeface="Arial" panose="020B0604020202020204" pitchFamily="34" charset="0"/>
                <a:ea typeface="Arial" panose="020B0604020202020204" pitchFamily="34" charset="-122"/>
                <a:cs typeface="Arial" panose="020B0604020202020204" pitchFamily="34" charset="-120"/>
              </a:rPr>
              <a:t>Soft Actor-Critic Agent</a:t>
            </a:r>
            <a:endParaRPr lang="en-US" sz="2400" dirty="0"/>
          </a:p>
        </p:txBody>
      </p:sp>
      <p:sp>
        <p:nvSpPr>
          <p:cNvPr id="4" name="Text 2"/>
          <p:cNvSpPr txBox="1"/>
          <p:nvPr/>
        </p:nvSpPr>
        <p:spPr>
          <a:xfrm>
            <a:off x="457200" y="4828032"/>
            <a:ext cx="5486400" cy="201168"/>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SAC · Semantic-Aware Hybrid NOMA  |  ML (25SC2107E) Review 2</a:t>
            </a:r>
            <a:endParaRPr lang="en-US" sz="900" dirty="0"/>
          </a:p>
        </p:txBody>
      </p:sp>
      <p:sp>
        <p:nvSpPr>
          <p:cNvPr id="5" name="Shape 3"/>
          <p:cNvSpPr/>
          <p:nvPr/>
        </p:nvSpPr>
        <p:spPr>
          <a:xfrm>
            <a:off x="457200" y="1051560"/>
            <a:ext cx="2011680" cy="777240"/>
          </a:xfrm>
          <a:prstGeom prst="roundRect">
            <a:avLst>
              <a:gd name="adj" fmla="val 9412"/>
            </a:avLst>
          </a:prstGeom>
          <a:solidFill>
            <a:srgbClr val="0E9F8E"/>
          </a:solidFill>
          <a:ln w="12700">
            <a:solidFill>
              <a:srgbClr val="0E9F8E"/>
            </a:solidFill>
            <a:prstDash val="solid"/>
          </a:ln>
          <a:effectLst>
            <a:outerShdw blurRad="101600" dist="25400" dir="5400000" algn="bl" rotWithShape="0">
              <a:srgbClr val="000000">
                <a:alpha val="12000"/>
              </a:srgbClr>
            </a:outerShdw>
          </a:effectLst>
        </p:spPr>
      </p:sp>
      <p:sp>
        <p:nvSpPr>
          <p:cNvPr id="6" name="Text 4"/>
          <p:cNvSpPr txBox="1"/>
          <p:nvPr/>
        </p:nvSpPr>
        <p:spPr>
          <a:xfrm>
            <a:off x="548640" y="1051560"/>
            <a:ext cx="1828800" cy="77724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Actor π(a|s)</a:t>
            </a:r>
            <a:endParaRPr lang="en-US" sz="1300" dirty="0"/>
          </a:p>
          <a:p>
            <a:pPr marL="0" indent="0" algn="ctr">
              <a:buNone/>
            </a:pPr>
            <a:r>
              <a:rPr lang="en-US" sz="1000" dirty="0">
                <a:solidFill>
                  <a:srgbClr val="CBD5E1"/>
                </a:solidFill>
                <a:latin typeface="Calibri" panose="020F0502020204030204" pitchFamily="34" charset="0"/>
                <a:ea typeface="Calibri" panose="020F0502020204030204" pitchFamily="34" charset="-122"/>
                <a:cs typeface="Calibri" panose="020F0502020204030204" pitchFamily="34" charset="-120"/>
              </a:rPr>
              <a:t>Gaussian + tanh squash</a:t>
            </a:r>
            <a:endParaRPr lang="en-US" sz="1300" dirty="0"/>
          </a:p>
        </p:txBody>
      </p:sp>
      <p:sp>
        <p:nvSpPr>
          <p:cNvPr id="7" name="Shape 5"/>
          <p:cNvSpPr/>
          <p:nvPr/>
        </p:nvSpPr>
        <p:spPr>
          <a:xfrm>
            <a:off x="3108960" y="1051560"/>
            <a:ext cx="2011680" cy="777240"/>
          </a:xfrm>
          <a:prstGeom prst="roundRect">
            <a:avLst>
              <a:gd name="adj" fmla="val 9412"/>
            </a:avLst>
          </a:prstGeom>
          <a:solidFill>
            <a:srgbClr val="0B1426"/>
          </a:solidFill>
          <a:ln w="12700">
            <a:solidFill>
              <a:srgbClr val="0B1426"/>
            </a:solidFill>
            <a:prstDash val="solid"/>
          </a:ln>
          <a:effectLst>
            <a:outerShdw blurRad="101600" dist="25400" dir="5400000" algn="bl" rotWithShape="0">
              <a:srgbClr val="000000">
                <a:alpha val="12000"/>
              </a:srgbClr>
            </a:outerShdw>
          </a:effectLst>
        </p:spPr>
      </p:sp>
      <p:sp>
        <p:nvSpPr>
          <p:cNvPr id="8" name="Text 6"/>
          <p:cNvSpPr txBox="1"/>
          <p:nvPr/>
        </p:nvSpPr>
        <p:spPr>
          <a:xfrm>
            <a:off x="3200400" y="1051560"/>
            <a:ext cx="1828800" cy="77724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Environment</a:t>
            </a:r>
            <a:endParaRPr lang="en-US" sz="1300" dirty="0"/>
          </a:p>
          <a:p>
            <a:pPr marL="0" indent="0" algn="ctr">
              <a:buNone/>
            </a:pPr>
            <a:r>
              <a:rPr lang="en-US" sz="1000" dirty="0">
                <a:solidFill>
                  <a:srgbClr val="CBD5E1"/>
                </a:solidFill>
                <a:latin typeface="Calibri" panose="020F0502020204030204" pitchFamily="34" charset="0"/>
                <a:ea typeface="Calibri" panose="020F0502020204030204" pitchFamily="34" charset="-122"/>
                <a:cs typeface="Calibri" panose="020F0502020204030204" pitchFamily="34" charset="-120"/>
              </a:rPr>
              <a:t>Hybrid NOMA-OFDMA sim</a:t>
            </a:r>
            <a:endParaRPr lang="en-US" sz="1300" dirty="0"/>
          </a:p>
        </p:txBody>
      </p:sp>
      <p:sp>
        <p:nvSpPr>
          <p:cNvPr id="9" name="Shape 7"/>
          <p:cNvSpPr/>
          <p:nvPr/>
        </p:nvSpPr>
        <p:spPr>
          <a:xfrm>
            <a:off x="3108960" y="2377440"/>
            <a:ext cx="2011680" cy="777240"/>
          </a:xfrm>
          <a:prstGeom prst="roundRect">
            <a:avLst>
              <a:gd name="adj" fmla="val 9412"/>
            </a:avLst>
          </a:prstGeom>
          <a:solidFill>
            <a:srgbClr val="F1F5F9"/>
          </a:solidFill>
          <a:ln w="12700">
            <a:solidFill>
              <a:srgbClr val="F1F5F9"/>
            </a:solidFill>
            <a:prstDash val="solid"/>
          </a:ln>
          <a:effectLst>
            <a:outerShdw blurRad="101600" dist="25400" dir="5400000" algn="bl" rotWithShape="0">
              <a:srgbClr val="000000">
                <a:alpha val="12000"/>
              </a:srgbClr>
            </a:outerShdw>
          </a:effectLst>
        </p:spPr>
      </p:sp>
      <p:sp>
        <p:nvSpPr>
          <p:cNvPr id="10" name="Text 8"/>
          <p:cNvSpPr txBox="1"/>
          <p:nvPr/>
        </p:nvSpPr>
        <p:spPr>
          <a:xfrm>
            <a:off x="3200400" y="2377440"/>
            <a:ext cx="1828800" cy="777240"/>
          </a:xfrm>
          <a:prstGeom prst="rect">
            <a:avLst/>
          </a:prstGeom>
          <a:noFill/>
        </p:spPr>
        <p:txBody>
          <a:bodyPr wrap="square" lIns="0" tIns="0" rIns="0" bIns="0" rtlCol="0" anchor="ctr"/>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Replay buffer</a:t>
            </a:r>
            <a:endParaRPr lang="en-US" sz="1300" dirty="0"/>
          </a:p>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50,000 transitions</a:t>
            </a:r>
            <a:endParaRPr lang="en-US" sz="1300" dirty="0"/>
          </a:p>
        </p:txBody>
      </p:sp>
      <p:sp>
        <p:nvSpPr>
          <p:cNvPr id="11" name="Shape 9"/>
          <p:cNvSpPr/>
          <p:nvPr/>
        </p:nvSpPr>
        <p:spPr>
          <a:xfrm>
            <a:off x="457200" y="2377440"/>
            <a:ext cx="2011680" cy="777240"/>
          </a:xfrm>
          <a:prstGeom prst="roundRect">
            <a:avLst>
              <a:gd name="adj" fmla="val 9412"/>
            </a:avLst>
          </a:prstGeom>
          <a:solidFill>
            <a:srgbClr val="FDF1D6"/>
          </a:solidFill>
          <a:ln w="12700">
            <a:solidFill>
              <a:srgbClr val="FDF1D6"/>
            </a:solidFill>
            <a:prstDash val="solid"/>
          </a:ln>
          <a:effectLst>
            <a:outerShdw blurRad="101600" dist="25400" dir="5400000" algn="bl" rotWithShape="0">
              <a:srgbClr val="000000">
                <a:alpha val="12000"/>
              </a:srgbClr>
            </a:outerShdw>
          </a:effectLst>
        </p:spPr>
      </p:sp>
      <p:sp>
        <p:nvSpPr>
          <p:cNvPr id="12" name="Text 10"/>
          <p:cNvSpPr txBox="1"/>
          <p:nvPr/>
        </p:nvSpPr>
        <p:spPr>
          <a:xfrm>
            <a:off x="548640" y="2377440"/>
            <a:ext cx="1828800" cy="777240"/>
          </a:xfrm>
          <a:prstGeom prst="rect">
            <a:avLst/>
          </a:prstGeom>
          <a:noFill/>
        </p:spPr>
        <p:txBody>
          <a:bodyPr wrap="square" lIns="0" tIns="0" rIns="0" bIns="0" rtlCol="0" anchor="ctr"/>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Twin critics Q₁, Q₂</a:t>
            </a:r>
            <a:endParaRPr lang="en-US" sz="1300" dirty="0"/>
          </a:p>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 target nets (τ = 0.005)</a:t>
            </a:r>
            <a:endParaRPr lang="en-US" sz="1300" dirty="0"/>
          </a:p>
        </p:txBody>
      </p:sp>
      <p:sp>
        <p:nvSpPr>
          <p:cNvPr id="13" name="Shape 11"/>
          <p:cNvSpPr/>
          <p:nvPr/>
        </p:nvSpPr>
        <p:spPr>
          <a:xfrm>
            <a:off x="457200" y="3657600"/>
            <a:ext cx="4663440" cy="731520"/>
          </a:xfrm>
          <a:prstGeom prst="roundRect">
            <a:avLst>
              <a:gd name="adj" fmla="val 10000"/>
            </a:avLst>
          </a:prstGeom>
          <a:solidFill>
            <a:srgbClr val="F1F5F9"/>
          </a:solidFill>
          <a:ln w="12700">
            <a:solidFill>
              <a:srgbClr val="F1F5F9"/>
            </a:solidFill>
            <a:prstDash val="solid"/>
          </a:ln>
          <a:effectLst>
            <a:outerShdw blurRad="101600" dist="25400" dir="5400000" algn="bl" rotWithShape="0">
              <a:srgbClr val="000000">
                <a:alpha val="12000"/>
              </a:srgbClr>
            </a:outerShdw>
          </a:effectLst>
        </p:spPr>
      </p:sp>
      <p:sp>
        <p:nvSpPr>
          <p:cNvPr id="14" name="Text 12"/>
          <p:cNvSpPr txBox="1"/>
          <p:nvPr/>
        </p:nvSpPr>
        <p:spPr>
          <a:xfrm>
            <a:off x="548640" y="3657600"/>
            <a:ext cx="4480560" cy="731520"/>
          </a:xfrm>
          <a:prstGeom prst="rect">
            <a:avLst/>
          </a:prstGeom>
          <a:noFill/>
        </p:spPr>
        <p:txBody>
          <a:bodyPr wrap="square" lIns="0" tIns="0" rIns="0" bIns="0" rtlCol="0" anchor="ctr"/>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Automatic entropy tuning α</a:t>
            </a:r>
            <a:endParaRPr lang="en-US" sz="1300" dirty="0"/>
          </a:p>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target entropy = −41 → keeps exploration alive</a:t>
            </a:r>
            <a:endParaRPr lang="en-US" sz="1300" dirty="0"/>
          </a:p>
        </p:txBody>
      </p:sp>
      <p:sp>
        <p:nvSpPr>
          <p:cNvPr id="15" name="Shape 13"/>
          <p:cNvSpPr/>
          <p:nvPr/>
        </p:nvSpPr>
        <p:spPr>
          <a:xfrm>
            <a:off x="2468880" y="1440180"/>
            <a:ext cx="640080" cy="914"/>
          </a:xfrm>
          <a:prstGeom prst="line">
            <a:avLst/>
          </a:prstGeom>
          <a:noFill/>
          <a:ln w="19050">
            <a:solidFill>
              <a:srgbClr val="94A3B8"/>
            </a:solidFill>
            <a:prstDash val="solid"/>
            <a:tailEnd type="triangle"/>
          </a:ln>
        </p:spPr>
      </p:sp>
      <p:sp>
        <p:nvSpPr>
          <p:cNvPr id="16" name="Shape 14"/>
          <p:cNvSpPr/>
          <p:nvPr/>
        </p:nvSpPr>
        <p:spPr>
          <a:xfrm>
            <a:off x="4114800" y="1828800"/>
            <a:ext cx="914" cy="548640"/>
          </a:xfrm>
          <a:prstGeom prst="line">
            <a:avLst/>
          </a:prstGeom>
          <a:noFill/>
          <a:ln w="19050">
            <a:solidFill>
              <a:srgbClr val="94A3B8"/>
            </a:solidFill>
            <a:prstDash val="solid"/>
            <a:tailEnd type="triangle"/>
          </a:ln>
        </p:spPr>
      </p:sp>
      <p:sp>
        <p:nvSpPr>
          <p:cNvPr id="17" name="Shape 15"/>
          <p:cNvSpPr/>
          <p:nvPr/>
        </p:nvSpPr>
        <p:spPr>
          <a:xfrm flipH="1">
            <a:off x="2468880" y="2766060"/>
            <a:ext cx="640080" cy="914"/>
          </a:xfrm>
          <a:prstGeom prst="line">
            <a:avLst/>
          </a:prstGeom>
          <a:noFill/>
          <a:ln w="19050">
            <a:solidFill>
              <a:srgbClr val="94A3B8"/>
            </a:solidFill>
            <a:prstDash val="solid"/>
            <a:tailEnd type="triangle"/>
          </a:ln>
        </p:spPr>
      </p:sp>
      <p:sp>
        <p:nvSpPr>
          <p:cNvPr id="18" name="Shape 16"/>
          <p:cNvSpPr/>
          <p:nvPr/>
        </p:nvSpPr>
        <p:spPr>
          <a:xfrm flipV="1">
            <a:off x="1463040" y="1828800"/>
            <a:ext cx="914" cy="548640"/>
          </a:xfrm>
          <a:prstGeom prst="line">
            <a:avLst/>
          </a:prstGeom>
          <a:noFill/>
          <a:ln w="19050">
            <a:solidFill>
              <a:srgbClr val="94A3B8"/>
            </a:solidFill>
            <a:prstDash val="solid"/>
            <a:tailEnd type="triangle"/>
          </a:ln>
        </p:spPr>
      </p:sp>
      <p:sp>
        <p:nvSpPr>
          <p:cNvPr id="19" name="Text 17"/>
          <p:cNvSpPr txBox="1"/>
          <p:nvPr/>
        </p:nvSpPr>
        <p:spPr>
          <a:xfrm>
            <a:off x="2487168" y="1143000"/>
            <a:ext cx="640080" cy="274320"/>
          </a:xfrm>
          <a:prstGeom prst="rect">
            <a:avLst/>
          </a:prstGeom>
          <a:noFill/>
        </p:spPr>
        <p:txBody>
          <a:bodyPr wrap="square" lIns="0" tIns="0" rIns="0" bIns="0" rtlCol="0" anchor="ctr"/>
          <a:lstStyle/>
          <a:p>
            <a:pPr marL="0" indent="0" algn="ctr">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action</a:t>
            </a:r>
            <a:endParaRPr lang="en-US" sz="900" dirty="0"/>
          </a:p>
        </p:txBody>
      </p:sp>
      <p:sp>
        <p:nvSpPr>
          <p:cNvPr id="20" name="Text 18"/>
          <p:cNvSpPr txBox="1"/>
          <p:nvPr/>
        </p:nvSpPr>
        <p:spPr>
          <a:xfrm>
            <a:off x="4160520" y="1965960"/>
            <a:ext cx="731520" cy="27432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(s, a, r)</a:t>
            </a:r>
            <a:endParaRPr lang="en-US" sz="900" dirty="0"/>
          </a:p>
        </p:txBody>
      </p:sp>
      <p:sp>
        <p:nvSpPr>
          <p:cNvPr id="21" name="Text 19"/>
          <p:cNvSpPr txBox="1"/>
          <p:nvPr/>
        </p:nvSpPr>
        <p:spPr>
          <a:xfrm>
            <a:off x="2487168" y="2487168"/>
            <a:ext cx="640080" cy="274320"/>
          </a:xfrm>
          <a:prstGeom prst="rect">
            <a:avLst/>
          </a:prstGeom>
          <a:noFill/>
        </p:spPr>
        <p:txBody>
          <a:bodyPr wrap="square" lIns="0" tIns="0" rIns="0" bIns="0" rtlCol="0" anchor="ctr"/>
          <a:lstStyle/>
          <a:p>
            <a:pPr marL="0" indent="0" algn="ctr">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batch</a:t>
            </a:r>
            <a:endParaRPr lang="en-US" sz="900" dirty="0"/>
          </a:p>
        </p:txBody>
      </p:sp>
      <p:sp>
        <p:nvSpPr>
          <p:cNvPr id="22" name="Text 20"/>
          <p:cNvSpPr txBox="1"/>
          <p:nvPr/>
        </p:nvSpPr>
        <p:spPr>
          <a:xfrm>
            <a:off x="1508760" y="1965960"/>
            <a:ext cx="914400" cy="274320"/>
          </a:xfrm>
          <a:prstGeom prst="rect">
            <a:avLst/>
          </a:prstGeom>
          <a:noFill/>
        </p:spPr>
        <p:txBody>
          <a:bodyPr wrap="square" lIns="0" tIns="0" rIns="0" bIns="0"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min(Q₁,Q₂)</a:t>
            </a:r>
            <a:endParaRPr lang="en-US" sz="900" dirty="0"/>
          </a:p>
        </p:txBody>
      </p:sp>
      <p:sp>
        <p:nvSpPr>
          <p:cNvPr id="23" name="Text 21"/>
          <p:cNvSpPr txBox="1"/>
          <p:nvPr/>
        </p:nvSpPr>
        <p:spPr>
          <a:xfrm>
            <a:off x="5577840" y="1005840"/>
            <a:ext cx="3108960" cy="274320"/>
          </a:xfrm>
          <a:prstGeom prst="rect">
            <a:avLst/>
          </a:prstGeom>
          <a:noFill/>
        </p:spPr>
        <p:txBody>
          <a:bodyPr wrap="square" lIns="0" tIns="0" rIns="0" bIns="0" rtlCol="0" anchor="ctr"/>
          <a:lstStyle/>
          <a:p>
            <a:pPr marL="0" indent="0">
              <a:buNone/>
            </a:pPr>
            <a:r>
              <a:rPr lang="en-US" sz="1300" b="1" dirty="0">
                <a:solidFill>
                  <a:srgbClr val="0E9F8E"/>
                </a:solidFill>
                <a:latin typeface="Arial" panose="020B0604020202020204" pitchFamily="34" charset="0"/>
                <a:ea typeface="Arial" panose="020B0604020202020204" pitchFamily="34" charset="-122"/>
                <a:cs typeface="Arial" panose="020B0604020202020204" pitchFamily="34" charset="-120"/>
              </a:rPr>
              <a:t>Hyperparameters</a:t>
            </a:r>
            <a:endParaRPr lang="en-US" sz="1300" dirty="0"/>
          </a:p>
        </p:txBody>
      </p:sp>
      <p:graphicFrame>
        <p:nvGraphicFramePr>
          <p:cNvPr id="24" name="Table 0"/>
          <p:cNvGraphicFramePr>
            <a:graphicFrameLocks noGrp="1"/>
          </p:cNvGraphicFramePr>
          <p:nvPr/>
        </p:nvGraphicFramePr>
        <p:xfrm>
          <a:off x="5577840" y="1325880"/>
          <a:ext cx="3108960" cy="2487168"/>
        </p:xfrm>
        <a:graphic>
          <a:graphicData uri="http://schemas.openxmlformats.org/drawingml/2006/table">
            <a:tbl>
              <a:tblPr/>
              <a:tblGrid>
                <a:gridCol w="1508760"/>
                <a:gridCol w="1600200"/>
              </a:tblGrid>
              <a:tr h="310896">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Hidden layers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2 × 128, ReLU</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r>
              <a:tr h="310896">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Optimiser / LR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Adam, 3 × 10⁻⁴</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Discount γ</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0.99</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r>
              <a:tr h="310896">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Soft update τ</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0.005</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Batch size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128</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r>
              <a:tr h="310896">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Training episodes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1,200</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Random warm-up</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300 episodes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1F5F9"/>
                    </a:solidFill>
                  </a:tcPr>
                </a:tc>
              </a:tr>
              <a:tr h="310896">
                <a:tc>
                  <a:txBody>
                    <a:bodyP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Evaluation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100" b="1" dirty="0">
                          <a:solidFill>
                            <a:srgbClr val="0B1426"/>
                          </a:solidFill>
                          <a:latin typeface="Calibri" panose="020F0502020204030204" pitchFamily="34" charset="0"/>
                          <a:ea typeface="Calibri" panose="020F0502020204030204" pitchFamily="34" charset="-122"/>
                          <a:cs typeface="Calibri" panose="020F0502020204030204" pitchFamily="34" charset="-120"/>
                        </a:rPr>
                        <a:t>200 episodes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Text 22"/>
          <p:cNvSpPr txBox="1"/>
          <p:nvPr/>
        </p:nvSpPr>
        <p:spPr>
          <a:xfrm>
            <a:off x="5577840" y="3931920"/>
            <a:ext cx="3108960" cy="685800"/>
          </a:xfrm>
          <a:prstGeom prst="rect">
            <a:avLst/>
          </a:prstGeom>
          <a:noFill/>
        </p:spPr>
        <p:txBody>
          <a:bodyPr wrap="square" lIns="0" tIns="0" rIns="0" bIns="0" rtlCol="0" anchor="t"/>
          <a:lstStyle/>
          <a:p>
            <a:pPr marL="0" indent="0">
              <a:buNone/>
            </a:pPr>
            <a:r>
              <a:rPr lang="en-US" sz="1050" i="1" dirty="0">
                <a:solidFill>
                  <a:srgbClr val="64748B"/>
                </a:solidFill>
                <a:latin typeface="Calibri" panose="020F0502020204030204" pitchFamily="34" charset="0"/>
                <a:ea typeface="Calibri" panose="020F0502020204030204" pitchFamily="34" charset="-122"/>
                <a:cs typeface="Calibri" panose="020F0502020204030204" pitchFamily="34" charset="-120"/>
              </a:rPr>
              <a:t>Why SAC: off-policy (sample-efficient), handles a 41-dim continuous action space, and entropy regularisation avoids premature collapse.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457200" cy="457200"/>
          </a:xfrm>
          <a:prstGeom prst="rect">
            <a:avLst/>
          </a:prstGeom>
          <a:noFill/>
        </p:spPr>
        <p:txBody>
          <a:bodyPr wrap="square" lIns="0" tIns="0" rIns="0" bIns="0" rtlCol="0" anchor="ctr"/>
          <a:lstStyle/>
          <a:p>
            <a:pPr marL="0" indent="0">
              <a:buNone/>
            </a:pPr>
            <a:endParaRPr lang="en-US" sz="1300" dirty="0"/>
          </a:p>
        </p:txBody>
      </p:sp>
      <p:sp>
        <p:nvSpPr>
          <p:cNvPr id="3" name="Text 1"/>
          <p:cNvSpPr txBox="1"/>
          <p:nvPr/>
        </p:nvSpPr>
        <p:spPr>
          <a:xfrm>
            <a:off x="868680" y="274320"/>
            <a:ext cx="7863840" cy="530352"/>
          </a:xfrm>
          <a:prstGeom prst="rect">
            <a:avLst/>
          </a:prstGeom>
          <a:noFill/>
        </p:spPr>
        <p:txBody>
          <a:bodyPr wrap="square" lIns="0" tIns="0" rIns="0" bIns="0" rtlCol="0" anchor="ctr"/>
          <a:lstStyle/>
          <a:p>
            <a:pPr marL="0" indent="0">
              <a:buNone/>
            </a:pPr>
            <a:r>
              <a:rPr lang="en-US" sz="2400" b="1" dirty="0">
                <a:solidFill>
                  <a:srgbClr val="0B1426"/>
                </a:solidFill>
                <a:latin typeface="Arial" panose="020B0604020202020204" pitchFamily="34" charset="0"/>
                <a:ea typeface="Arial" panose="020B0604020202020204" pitchFamily="34" charset="-122"/>
                <a:cs typeface="Arial" panose="020B0604020202020204" pitchFamily="34" charset="-120"/>
              </a:rPr>
              <a:t>Implementation Workflow</a:t>
            </a:r>
            <a:endParaRPr lang="en-US" sz="2400" dirty="0"/>
          </a:p>
        </p:txBody>
      </p:sp>
      <p:sp>
        <p:nvSpPr>
          <p:cNvPr id="4" name="Text 2"/>
          <p:cNvSpPr txBox="1"/>
          <p:nvPr/>
        </p:nvSpPr>
        <p:spPr>
          <a:xfrm>
            <a:off x="457200" y="4828032"/>
            <a:ext cx="5486400" cy="201168"/>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SAC · Semantic-Aware Hybrid NOMA  |  ML (25SC2107E) Review 2</a:t>
            </a:r>
            <a:endParaRPr lang="en-US" sz="900" dirty="0"/>
          </a:p>
        </p:txBody>
      </p:sp>
      <p:sp>
        <p:nvSpPr>
          <p:cNvPr id="5" name="Shape 3"/>
          <p:cNvSpPr/>
          <p:nvPr/>
        </p:nvSpPr>
        <p:spPr>
          <a:xfrm>
            <a:off x="813816" y="1097280"/>
            <a:ext cx="566928" cy="566928"/>
          </a:xfrm>
          <a:prstGeom prst="ellipse">
            <a:avLst/>
          </a:prstGeom>
          <a:solidFill>
            <a:srgbClr val="0E9F8E"/>
          </a:solidFill>
          <a:ln w="12700">
            <a:solidFill>
              <a:srgbClr val="0E9F8E"/>
            </a:solidFill>
            <a:prstDash val="solid"/>
          </a:ln>
        </p:spPr>
      </p:sp>
      <p:pic>
        <p:nvPicPr>
          <p:cNvPr id="6" name="Image 0" descr="preencoded.png"/>
          <p:cNvPicPr>
            <a:picLocks noChangeAspect="1"/>
          </p:cNvPicPr>
          <p:nvPr/>
        </p:nvPicPr>
        <p:blipFill>
          <a:blip r:embed="rId1"/>
          <a:stretch>
            <a:fillRect/>
          </a:stretch>
        </p:blipFill>
        <p:spPr>
          <a:xfrm>
            <a:off x="961217" y="1244681"/>
            <a:ext cx="272125" cy="272125"/>
          </a:xfrm>
          <a:prstGeom prst="rect">
            <a:avLst/>
          </a:prstGeom>
        </p:spPr>
      </p:pic>
      <p:sp>
        <p:nvSpPr>
          <p:cNvPr id="7" name="Shape 4"/>
          <p:cNvSpPr/>
          <p:nvPr/>
        </p:nvSpPr>
        <p:spPr>
          <a:xfrm>
            <a:off x="1444752" y="1380744"/>
            <a:ext cx="329184" cy="0"/>
          </a:xfrm>
          <a:prstGeom prst="line">
            <a:avLst/>
          </a:prstGeom>
          <a:noFill/>
          <a:ln w="19050">
            <a:solidFill>
              <a:srgbClr val="CBD5E1"/>
            </a:solidFill>
            <a:prstDash val="solid"/>
            <a:tailEnd type="triangle"/>
          </a:ln>
        </p:spPr>
      </p:sp>
      <p:sp>
        <p:nvSpPr>
          <p:cNvPr id="8" name="Text 5"/>
          <p:cNvSpPr txBox="1"/>
          <p:nvPr/>
        </p:nvSpPr>
        <p:spPr>
          <a:xfrm>
            <a:off x="457200" y="1783080"/>
            <a:ext cx="1280160" cy="274320"/>
          </a:xfrm>
          <a:prstGeom prst="rect">
            <a:avLst/>
          </a:prstGeom>
          <a:noFill/>
        </p:spPr>
        <p:txBody>
          <a:bodyPr wrap="square" lIns="0" tIns="0" rIns="0" bIns="0" rtlCol="0" anchor="ctr"/>
          <a:lstStyle/>
          <a:p>
            <a:pPr marL="0" indent="0" algn="ctr">
              <a:buNone/>
            </a:pPr>
            <a:r>
              <a:rPr lang="en-US" sz="1100" b="1" dirty="0">
                <a:solidFill>
                  <a:srgbClr val="0E9F8E"/>
                </a:solidFill>
                <a:latin typeface="Arial" panose="020B0604020202020204" pitchFamily="34" charset="0"/>
                <a:ea typeface="Arial" panose="020B0604020202020204" pitchFamily="34" charset="-122"/>
                <a:cs typeface="Arial" panose="020B0604020202020204" pitchFamily="34" charset="-120"/>
              </a:rPr>
              <a:t>1</a:t>
            </a:r>
            <a:endParaRPr lang="en-US" sz="1100" dirty="0"/>
          </a:p>
        </p:txBody>
      </p:sp>
      <p:sp>
        <p:nvSpPr>
          <p:cNvPr id="9" name="Text 6"/>
          <p:cNvSpPr txBox="1"/>
          <p:nvPr/>
        </p:nvSpPr>
        <p:spPr>
          <a:xfrm>
            <a:off x="457200" y="2029968"/>
            <a:ext cx="1280160" cy="96012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Configure</a:t>
            </a:r>
            <a:endParaRPr lang="en-US" sz="1300" dirty="0"/>
          </a:p>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Users, subcarriers, bandwidth, power, frame time</a:t>
            </a:r>
            <a:endParaRPr lang="en-US" sz="1300" dirty="0"/>
          </a:p>
        </p:txBody>
      </p:sp>
      <p:sp>
        <p:nvSpPr>
          <p:cNvPr id="10" name="Shape 7"/>
          <p:cNvSpPr/>
          <p:nvPr/>
        </p:nvSpPr>
        <p:spPr>
          <a:xfrm>
            <a:off x="2212848" y="1097280"/>
            <a:ext cx="566928" cy="566928"/>
          </a:xfrm>
          <a:prstGeom prst="ellipse">
            <a:avLst/>
          </a:prstGeom>
          <a:solidFill>
            <a:srgbClr val="0E9F8E"/>
          </a:solidFill>
          <a:ln w="12700">
            <a:solidFill>
              <a:srgbClr val="0E9F8E"/>
            </a:solidFill>
            <a:prstDash val="solid"/>
          </a:ln>
        </p:spPr>
      </p:sp>
      <p:pic>
        <p:nvPicPr>
          <p:cNvPr id="11" name="Image 1" descr="preencoded.png"/>
          <p:cNvPicPr>
            <a:picLocks noChangeAspect="1"/>
          </p:cNvPicPr>
          <p:nvPr/>
        </p:nvPicPr>
        <p:blipFill>
          <a:blip r:embed="rId2"/>
          <a:stretch>
            <a:fillRect/>
          </a:stretch>
        </p:blipFill>
        <p:spPr>
          <a:xfrm>
            <a:off x="2360249" y="1244681"/>
            <a:ext cx="272125" cy="272125"/>
          </a:xfrm>
          <a:prstGeom prst="rect">
            <a:avLst/>
          </a:prstGeom>
        </p:spPr>
      </p:pic>
      <p:sp>
        <p:nvSpPr>
          <p:cNvPr id="12" name="Shape 8"/>
          <p:cNvSpPr/>
          <p:nvPr/>
        </p:nvSpPr>
        <p:spPr>
          <a:xfrm>
            <a:off x="2843784" y="1380744"/>
            <a:ext cx="329184" cy="0"/>
          </a:xfrm>
          <a:prstGeom prst="line">
            <a:avLst/>
          </a:prstGeom>
          <a:noFill/>
          <a:ln w="19050">
            <a:solidFill>
              <a:srgbClr val="CBD5E1"/>
            </a:solidFill>
            <a:prstDash val="solid"/>
            <a:tailEnd type="triangle"/>
          </a:ln>
        </p:spPr>
      </p:sp>
      <p:sp>
        <p:nvSpPr>
          <p:cNvPr id="13" name="Text 9"/>
          <p:cNvSpPr txBox="1"/>
          <p:nvPr/>
        </p:nvSpPr>
        <p:spPr>
          <a:xfrm>
            <a:off x="1856232" y="1783080"/>
            <a:ext cx="1280160" cy="274320"/>
          </a:xfrm>
          <a:prstGeom prst="rect">
            <a:avLst/>
          </a:prstGeom>
          <a:noFill/>
        </p:spPr>
        <p:txBody>
          <a:bodyPr wrap="square" lIns="0" tIns="0" rIns="0" bIns="0" rtlCol="0" anchor="ctr"/>
          <a:lstStyle/>
          <a:p>
            <a:pPr marL="0" indent="0" algn="ctr">
              <a:buNone/>
            </a:pPr>
            <a:r>
              <a:rPr lang="en-US" sz="1100" b="1" dirty="0">
                <a:solidFill>
                  <a:srgbClr val="0E9F8E"/>
                </a:solidFill>
                <a:latin typeface="Arial" panose="020B0604020202020204" pitchFamily="34" charset="0"/>
                <a:ea typeface="Arial" panose="020B0604020202020204" pitchFamily="34" charset="-122"/>
                <a:cs typeface="Arial" panose="020B0604020202020204" pitchFamily="34" charset="-120"/>
              </a:rPr>
              <a:t>2</a:t>
            </a:r>
            <a:endParaRPr lang="en-US" sz="1100" dirty="0"/>
          </a:p>
        </p:txBody>
      </p:sp>
      <p:sp>
        <p:nvSpPr>
          <p:cNvPr id="14" name="Text 10"/>
          <p:cNvSpPr txBox="1"/>
          <p:nvPr/>
        </p:nvSpPr>
        <p:spPr>
          <a:xfrm>
            <a:off x="1856232" y="2029968"/>
            <a:ext cx="1280160" cy="96012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Generate</a:t>
            </a:r>
            <a:endParaRPr lang="en-US" sz="1300" dirty="0"/>
          </a:p>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Positions, Rayleigh fading, semantic profile</a:t>
            </a:r>
            <a:endParaRPr lang="en-US" sz="1300" dirty="0"/>
          </a:p>
        </p:txBody>
      </p:sp>
      <p:sp>
        <p:nvSpPr>
          <p:cNvPr id="15" name="Shape 11"/>
          <p:cNvSpPr/>
          <p:nvPr/>
        </p:nvSpPr>
        <p:spPr>
          <a:xfrm>
            <a:off x="3611880" y="1097280"/>
            <a:ext cx="566928" cy="566928"/>
          </a:xfrm>
          <a:prstGeom prst="ellipse">
            <a:avLst/>
          </a:prstGeom>
          <a:solidFill>
            <a:srgbClr val="0E9F8E"/>
          </a:solidFill>
          <a:ln w="12700">
            <a:solidFill>
              <a:srgbClr val="0E9F8E"/>
            </a:solidFill>
            <a:prstDash val="solid"/>
          </a:ln>
        </p:spPr>
      </p:sp>
      <p:pic>
        <p:nvPicPr>
          <p:cNvPr id="16" name="Image 2" descr="preencoded.png"/>
          <p:cNvPicPr>
            <a:picLocks noChangeAspect="1"/>
          </p:cNvPicPr>
          <p:nvPr/>
        </p:nvPicPr>
        <p:blipFill>
          <a:blip r:embed="rId3"/>
          <a:stretch>
            <a:fillRect/>
          </a:stretch>
        </p:blipFill>
        <p:spPr>
          <a:xfrm>
            <a:off x="3759281" y="1244681"/>
            <a:ext cx="272125" cy="272125"/>
          </a:xfrm>
          <a:prstGeom prst="rect">
            <a:avLst/>
          </a:prstGeom>
        </p:spPr>
      </p:pic>
      <p:sp>
        <p:nvSpPr>
          <p:cNvPr id="17" name="Shape 12"/>
          <p:cNvSpPr/>
          <p:nvPr/>
        </p:nvSpPr>
        <p:spPr>
          <a:xfrm>
            <a:off x="4242816" y="1380744"/>
            <a:ext cx="329184" cy="0"/>
          </a:xfrm>
          <a:prstGeom prst="line">
            <a:avLst/>
          </a:prstGeom>
          <a:noFill/>
          <a:ln w="19050">
            <a:solidFill>
              <a:srgbClr val="CBD5E1"/>
            </a:solidFill>
            <a:prstDash val="solid"/>
            <a:tailEnd type="triangle"/>
          </a:ln>
        </p:spPr>
      </p:sp>
      <p:sp>
        <p:nvSpPr>
          <p:cNvPr id="18" name="Text 13"/>
          <p:cNvSpPr txBox="1"/>
          <p:nvPr/>
        </p:nvSpPr>
        <p:spPr>
          <a:xfrm>
            <a:off x="3255264" y="1783080"/>
            <a:ext cx="1280160" cy="274320"/>
          </a:xfrm>
          <a:prstGeom prst="rect">
            <a:avLst/>
          </a:prstGeom>
          <a:noFill/>
        </p:spPr>
        <p:txBody>
          <a:bodyPr wrap="square" lIns="0" tIns="0" rIns="0" bIns="0" rtlCol="0" anchor="ctr"/>
          <a:lstStyle/>
          <a:p>
            <a:pPr marL="0" indent="0" algn="ctr">
              <a:buNone/>
            </a:pPr>
            <a:r>
              <a:rPr lang="en-US" sz="1100" b="1" dirty="0">
                <a:solidFill>
                  <a:srgbClr val="0E9F8E"/>
                </a:solidFill>
                <a:latin typeface="Arial" panose="020B0604020202020204" pitchFamily="34" charset="0"/>
                <a:ea typeface="Arial" panose="020B0604020202020204" pitchFamily="34" charset="-122"/>
                <a:cs typeface="Arial" panose="020B0604020202020204" pitchFamily="34" charset="-120"/>
              </a:rPr>
              <a:t>3</a:t>
            </a:r>
            <a:endParaRPr lang="en-US" sz="1100" dirty="0"/>
          </a:p>
        </p:txBody>
      </p:sp>
      <p:sp>
        <p:nvSpPr>
          <p:cNvPr id="19" name="Text 14"/>
          <p:cNvSpPr txBox="1"/>
          <p:nvPr/>
        </p:nvSpPr>
        <p:spPr>
          <a:xfrm>
            <a:off x="3255264" y="2029968"/>
            <a:ext cx="1280160" cy="96012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Schedule</a:t>
            </a:r>
            <a:endParaRPr lang="en-US" sz="1300" dirty="0"/>
          </a:p>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OFDMA subcarriers + NOMA clusters</a:t>
            </a:r>
            <a:endParaRPr lang="en-US" sz="1300" dirty="0"/>
          </a:p>
        </p:txBody>
      </p:sp>
      <p:sp>
        <p:nvSpPr>
          <p:cNvPr id="20" name="Shape 15"/>
          <p:cNvSpPr/>
          <p:nvPr/>
        </p:nvSpPr>
        <p:spPr>
          <a:xfrm>
            <a:off x="5010912" y="1097280"/>
            <a:ext cx="566928" cy="566928"/>
          </a:xfrm>
          <a:prstGeom prst="ellipse">
            <a:avLst/>
          </a:prstGeom>
          <a:solidFill>
            <a:srgbClr val="E89B0C"/>
          </a:solidFill>
          <a:ln w="12700">
            <a:solidFill>
              <a:srgbClr val="E89B0C"/>
            </a:solidFill>
            <a:prstDash val="solid"/>
          </a:ln>
        </p:spPr>
      </p:sp>
      <p:pic>
        <p:nvPicPr>
          <p:cNvPr id="21" name="Image 3" descr="preencoded.png"/>
          <p:cNvPicPr>
            <a:picLocks noChangeAspect="1"/>
          </p:cNvPicPr>
          <p:nvPr/>
        </p:nvPicPr>
        <p:blipFill>
          <a:blip r:embed="rId4"/>
          <a:stretch>
            <a:fillRect/>
          </a:stretch>
        </p:blipFill>
        <p:spPr>
          <a:xfrm>
            <a:off x="5158313" y="1244681"/>
            <a:ext cx="272125" cy="272125"/>
          </a:xfrm>
          <a:prstGeom prst="rect">
            <a:avLst/>
          </a:prstGeom>
        </p:spPr>
      </p:pic>
      <p:sp>
        <p:nvSpPr>
          <p:cNvPr id="22" name="Shape 16"/>
          <p:cNvSpPr/>
          <p:nvPr/>
        </p:nvSpPr>
        <p:spPr>
          <a:xfrm>
            <a:off x="5641848" y="1380744"/>
            <a:ext cx="329184" cy="0"/>
          </a:xfrm>
          <a:prstGeom prst="line">
            <a:avLst/>
          </a:prstGeom>
          <a:noFill/>
          <a:ln w="19050">
            <a:solidFill>
              <a:srgbClr val="CBD5E1"/>
            </a:solidFill>
            <a:prstDash val="solid"/>
            <a:tailEnd type="triangle"/>
          </a:ln>
        </p:spPr>
      </p:sp>
      <p:sp>
        <p:nvSpPr>
          <p:cNvPr id="23" name="Text 17"/>
          <p:cNvSpPr txBox="1"/>
          <p:nvPr/>
        </p:nvSpPr>
        <p:spPr>
          <a:xfrm>
            <a:off x="4654296" y="1783080"/>
            <a:ext cx="1280160" cy="274320"/>
          </a:xfrm>
          <a:prstGeom prst="rect">
            <a:avLst/>
          </a:prstGeom>
          <a:noFill/>
        </p:spPr>
        <p:txBody>
          <a:bodyPr wrap="square" lIns="0" tIns="0" rIns="0" bIns="0" rtlCol="0" anchor="ctr"/>
          <a:lstStyle/>
          <a:p>
            <a:pPr marL="0" indent="0" algn="ctr">
              <a:buNone/>
            </a:pPr>
            <a:r>
              <a:rPr lang="en-US" sz="1100" b="1" dirty="0">
                <a:solidFill>
                  <a:srgbClr val="0E9F8E"/>
                </a:solidFill>
                <a:latin typeface="Arial" panose="020B0604020202020204" pitchFamily="34" charset="0"/>
                <a:ea typeface="Arial" panose="020B0604020202020204" pitchFamily="34" charset="-122"/>
                <a:cs typeface="Arial" panose="020B0604020202020204" pitchFamily="34" charset="-120"/>
              </a:rPr>
              <a:t>4</a:t>
            </a:r>
            <a:endParaRPr lang="en-US" sz="1100" dirty="0"/>
          </a:p>
        </p:txBody>
      </p:sp>
      <p:sp>
        <p:nvSpPr>
          <p:cNvPr id="24" name="Text 18"/>
          <p:cNvSpPr txBox="1"/>
          <p:nvPr/>
        </p:nvSpPr>
        <p:spPr>
          <a:xfrm>
            <a:off x="4654296" y="2029968"/>
            <a:ext cx="1280160" cy="96012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Act</a:t>
            </a:r>
            <a:endParaRPr lang="en-US" sz="1300" dirty="0"/>
          </a:p>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SAC outputs power &amp; time allocation</a:t>
            </a:r>
            <a:endParaRPr lang="en-US" sz="1300" dirty="0"/>
          </a:p>
        </p:txBody>
      </p:sp>
      <p:sp>
        <p:nvSpPr>
          <p:cNvPr id="25" name="Shape 19"/>
          <p:cNvSpPr/>
          <p:nvPr/>
        </p:nvSpPr>
        <p:spPr>
          <a:xfrm>
            <a:off x="6409944" y="1097280"/>
            <a:ext cx="566928" cy="566928"/>
          </a:xfrm>
          <a:prstGeom prst="ellipse">
            <a:avLst/>
          </a:prstGeom>
          <a:solidFill>
            <a:srgbClr val="0E9F8E"/>
          </a:solidFill>
          <a:ln w="12700">
            <a:solidFill>
              <a:srgbClr val="0E9F8E"/>
            </a:solidFill>
            <a:prstDash val="solid"/>
          </a:ln>
        </p:spPr>
      </p:sp>
      <p:pic>
        <p:nvPicPr>
          <p:cNvPr id="26" name="Image 4" descr="preencoded.png"/>
          <p:cNvPicPr>
            <a:picLocks noChangeAspect="1"/>
          </p:cNvPicPr>
          <p:nvPr/>
        </p:nvPicPr>
        <p:blipFill>
          <a:blip r:embed="rId5"/>
          <a:stretch>
            <a:fillRect/>
          </a:stretch>
        </p:blipFill>
        <p:spPr>
          <a:xfrm>
            <a:off x="6557345" y="1244681"/>
            <a:ext cx="272125" cy="272125"/>
          </a:xfrm>
          <a:prstGeom prst="rect">
            <a:avLst/>
          </a:prstGeom>
        </p:spPr>
      </p:pic>
      <p:sp>
        <p:nvSpPr>
          <p:cNvPr id="27" name="Shape 20"/>
          <p:cNvSpPr/>
          <p:nvPr/>
        </p:nvSpPr>
        <p:spPr>
          <a:xfrm>
            <a:off x="7040880" y="1380744"/>
            <a:ext cx="329184" cy="0"/>
          </a:xfrm>
          <a:prstGeom prst="line">
            <a:avLst/>
          </a:prstGeom>
          <a:noFill/>
          <a:ln w="19050">
            <a:solidFill>
              <a:srgbClr val="CBD5E1"/>
            </a:solidFill>
            <a:prstDash val="solid"/>
            <a:tailEnd type="triangle"/>
          </a:ln>
        </p:spPr>
      </p:sp>
      <p:sp>
        <p:nvSpPr>
          <p:cNvPr id="28" name="Text 21"/>
          <p:cNvSpPr txBox="1"/>
          <p:nvPr/>
        </p:nvSpPr>
        <p:spPr>
          <a:xfrm>
            <a:off x="6053328" y="1783080"/>
            <a:ext cx="1280160" cy="274320"/>
          </a:xfrm>
          <a:prstGeom prst="rect">
            <a:avLst/>
          </a:prstGeom>
          <a:noFill/>
        </p:spPr>
        <p:txBody>
          <a:bodyPr wrap="square" lIns="0" tIns="0" rIns="0" bIns="0" rtlCol="0" anchor="ctr"/>
          <a:lstStyle/>
          <a:p>
            <a:pPr marL="0" indent="0" algn="ctr">
              <a:buNone/>
            </a:pPr>
            <a:r>
              <a:rPr lang="en-US" sz="1100" b="1" dirty="0">
                <a:solidFill>
                  <a:srgbClr val="0E9F8E"/>
                </a:solidFill>
                <a:latin typeface="Arial" panose="020B0604020202020204" pitchFamily="34" charset="0"/>
                <a:ea typeface="Arial" panose="020B0604020202020204" pitchFamily="34" charset="-122"/>
                <a:cs typeface="Arial" panose="020B0604020202020204" pitchFamily="34" charset="-120"/>
              </a:rPr>
              <a:t>5</a:t>
            </a:r>
            <a:endParaRPr lang="en-US" sz="1100" dirty="0"/>
          </a:p>
        </p:txBody>
      </p:sp>
      <p:sp>
        <p:nvSpPr>
          <p:cNvPr id="29" name="Text 22"/>
          <p:cNvSpPr txBox="1"/>
          <p:nvPr/>
        </p:nvSpPr>
        <p:spPr>
          <a:xfrm>
            <a:off x="6053328" y="2029968"/>
            <a:ext cx="1280160" cy="96012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Evaluate</a:t>
            </a:r>
            <a:endParaRPr lang="en-US" sz="1300" dirty="0"/>
          </a:p>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Rate, semantic utility, QoS, EE → reward</a:t>
            </a:r>
            <a:endParaRPr lang="en-US" sz="1300" dirty="0"/>
          </a:p>
        </p:txBody>
      </p:sp>
      <p:sp>
        <p:nvSpPr>
          <p:cNvPr id="30" name="Shape 23"/>
          <p:cNvSpPr/>
          <p:nvPr/>
        </p:nvSpPr>
        <p:spPr>
          <a:xfrm>
            <a:off x="7808976" y="1097280"/>
            <a:ext cx="566928" cy="566928"/>
          </a:xfrm>
          <a:prstGeom prst="ellipse">
            <a:avLst/>
          </a:prstGeom>
          <a:solidFill>
            <a:srgbClr val="0E9F8E"/>
          </a:solidFill>
          <a:ln w="12700">
            <a:solidFill>
              <a:srgbClr val="0E9F8E"/>
            </a:solidFill>
            <a:prstDash val="solid"/>
          </a:ln>
        </p:spPr>
      </p:sp>
      <p:pic>
        <p:nvPicPr>
          <p:cNvPr id="31" name="Image 5" descr="preencoded.png"/>
          <p:cNvPicPr>
            <a:picLocks noChangeAspect="1"/>
          </p:cNvPicPr>
          <p:nvPr/>
        </p:nvPicPr>
        <p:blipFill>
          <a:blip r:embed="rId6"/>
          <a:stretch>
            <a:fillRect/>
          </a:stretch>
        </p:blipFill>
        <p:spPr>
          <a:xfrm>
            <a:off x="7956377" y="1244681"/>
            <a:ext cx="272125" cy="272125"/>
          </a:xfrm>
          <a:prstGeom prst="rect">
            <a:avLst/>
          </a:prstGeom>
        </p:spPr>
      </p:pic>
      <p:sp>
        <p:nvSpPr>
          <p:cNvPr id="32" name="Text 24"/>
          <p:cNvSpPr txBox="1"/>
          <p:nvPr/>
        </p:nvSpPr>
        <p:spPr>
          <a:xfrm>
            <a:off x="7452360" y="1783080"/>
            <a:ext cx="1280160" cy="274320"/>
          </a:xfrm>
          <a:prstGeom prst="rect">
            <a:avLst/>
          </a:prstGeom>
          <a:noFill/>
        </p:spPr>
        <p:txBody>
          <a:bodyPr wrap="square" lIns="0" tIns="0" rIns="0" bIns="0" rtlCol="0" anchor="ctr"/>
          <a:lstStyle/>
          <a:p>
            <a:pPr marL="0" indent="0" algn="ctr">
              <a:buNone/>
            </a:pPr>
            <a:r>
              <a:rPr lang="en-US" sz="1100" b="1" dirty="0">
                <a:solidFill>
                  <a:srgbClr val="0E9F8E"/>
                </a:solidFill>
                <a:latin typeface="Arial" panose="020B0604020202020204" pitchFamily="34" charset="0"/>
                <a:ea typeface="Arial" panose="020B0604020202020204" pitchFamily="34" charset="-122"/>
                <a:cs typeface="Arial" panose="020B0604020202020204" pitchFamily="34" charset="-120"/>
              </a:rPr>
              <a:t>6</a:t>
            </a:r>
            <a:endParaRPr lang="en-US" sz="1100" dirty="0"/>
          </a:p>
        </p:txBody>
      </p:sp>
      <p:sp>
        <p:nvSpPr>
          <p:cNvPr id="33" name="Text 25"/>
          <p:cNvSpPr txBox="1"/>
          <p:nvPr/>
        </p:nvSpPr>
        <p:spPr>
          <a:xfrm>
            <a:off x="7452360" y="2029968"/>
            <a:ext cx="1280160" cy="960120"/>
          </a:xfrm>
          <a:prstGeom prst="rect">
            <a:avLst/>
          </a:prstGeom>
          <a:noFill/>
        </p:spPr>
        <p:txBody>
          <a:bodyPr wrap="square" lIns="0" tIns="0" rIns="0" bIns="0" rtlCol="0" anchor="t"/>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Learn</a:t>
            </a:r>
            <a:endParaRPr lang="en-US" sz="1300" dirty="0"/>
          </a:p>
          <a:p>
            <a:pPr marL="0" indent="0" algn="ct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Store in buffer, update actor &amp; critics</a:t>
            </a:r>
            <a:endParaRPr lang="en-US" sz="1300" dirty="0"/>
          </a:p>
        </p:txBody>
      </p:sp>
      <p:sp>
        <p:nvSpPr>
          <p:cNvPr id="34" name="Text 26"/>
          <p:cNvSpPr txBox="1"/>
          <p:nvPr/>
        </p:nvSpPr>
        <p:spPr>
          <a:xfrm>
            <a:off x="457200" y="3017520"/>
            <a:ext cx="8229600" cy="274320"/>
          </a:xfrm>
          <a:prstGeom prst="rect">
            <a:avLst/>
          </a:prstGeom>
          <a:noFill/>
        </p:spPr>
        <p:txBody>
          <a:bodyPr wrap="square" lIns="0" tIns="0" rIns="0" bIns="0" rtlCol="0" anchor="ctr"/>
          <a:lstStyle/>
          <a:p>
            <a:pPr marL="0" indent="0" algn="ctr">
              <a:buNone/>
            </a:pPr>
            <a:r>
              <a:rPr lang="en-US" sz="1100" i="1" dirty="0">
                <a:solidFill>
                  <a:srgbClr val="0E9F8E"/>
                </a:solidFill>
                <a:latin typeface="Calibri" panose="020F0502020204030204" pitchFamily="34" charset="0"/>
                <a:ea typeface="Calibri" panose="020F0502020204030204" pitchFamily="34" charset="-122"/>
                <a:cs typeface="Calibri" panose="020F0502020204030204" pitchFamily="34" charset="-120"/>
              </a:rPr>
              <a:t>↻  repeated for 1,200 episodes (each episode = new channel realisation)</a:t>
            </a:r>
            <a:endParaRPr lang="en-US" sz="1100" dirty="0"/>
          </a:p>
        </p:txBody>
      </p:sp>
      <p:sp>
        <p:nvSpPr>
          <p:cNvPr id="35" name="Shape 27"/>
          <p:cNvSpPr/>
          <p:nvPr/>
        </p:nvSpPr>
        <p:spPr>
          <a:xfrm>
            <a:off x="457200" y="3474720"/>
            <a:ext cx="3977640" cy="1143000"/>
          </a:xfrm>
          <a:prstGeom prst="rect">
            <a:avLst/>
          </a:prstGeom>
          <a:solidFill>
            <a:srgbClr val="F1F5F9"/>
          </a:solidFill>
          <a:ln w="12700">
            <a:solidFill>
              <a:srgbClr val="F1F5F9"/>
            </a:solidFill>
            <a:prstDash val="solid"/>
          </a:ln>
        </p:spPr>
      </p:sp>
      <p:sp>
        <p:nvSpPr>
          <p:cNvPr id="36" name="Text 28"/>
          <p:cNvSpPr txBox="1"/>
          <p:nvPr/>
        </p:nvSpPr>
        <p:spPr>
          <a:xfrm>
            <a:off x="640080" y="3520440"/>
            <a:ext cx="3657600" cy="1051560"/>
          </a:xfrm>
          <a:prstGeom prst="rect">
            <a:avLst/>
          </a:prstGeom>
          <a:noFill/>
        </p:spPr>
        <p:txBody>
          <a:bodyPr wrap="square" lIns="0" tIns="0" rIns="0" bIns="0" rtlCol="0" anchor="ctr"/>
          <a:lstStyle/>
          <a:p>
            <a:pPr marL="0" indent="0">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Baseline</a:t>
            </a:r>
            <a:endParaRPr lang="en-US" sz="1300" dirty="0"/>
          </a:p>
          <a:p>
            <a:pPr marL="0" indent="0">
              <a:buNone/>
            </a:pPr>
            <a:r>
              <a:rPr lang="en-US" sz="1100" dirty="0">
                <a:solidFill>
                  <a:srgbClr val="1F2937"/>
                </a:solidFill>
                <a:latin typeface="Calibri" panose="020F0502020204030204" pitchFamily="34" charset="0"/>
                <a:ea typeface="Calibri" panose="020F0502020204030204" pitchFamily="34" charset="-122"/>
                <a:cs typeface="Calibri" panose="020F0502020204030204" pitchFamily="34" charset="-120"/>
              </a:rPr>
              <a:t>Equal allocation: every user gets P_max / N power and T / N time on the same scheduler, evaluated on 200 fresh channel realisations.</a:t>
            </a:r>
            <a:endParaRPr lang="en-US" sz="1300" dirty="0"/>
          </a:p>
        </p:txBody>
      </p:sp>
      <p:sp>
        <p:nvSpPr>
          <p:cNvPr id="37" name="Shape 29"/>
          <p:cNvSpPr/>
          <p:nvPr/>
        </p:nvSpPr>
        <p:spPr>
          <a:xfrm>
            <a:off x="4709160" y="3474720"/>
            <a:ext cx="3977640" cy="1143000"/>
          </a:xfrm>
          <a:prstGeom prst="rect">
            <a:avLst/>
          </a:prstGeom>
          <a:solidFill>
            <a:srgbClr val="F1F5F9"/>
          </a:solidFill>
          <a:ln w="12700">
            <a:solidFill>
              <a:srgbClr val="F1F5F9"/>
            </a:solidFill>
            <a:prstDash val="solid"/>
          </a:ln>
        </p:spPr>
      </p:sp>
      <p:sp>
        <p:nvSpPr>
          <p:cNvPr id="38" name="Text 30"/>
          <p:cNvSpPr txBox="1"/>
          <p:nvPr/>
        </p:nvSpPr>
        <p:spPr>
          <a:xfrm>
            <a:off x="4892040" y="3566160"/>
            <a:ext cx="3657600" cy="274320"/>
          </a:xfrm>
          <a:prstGeom prst="rect">
            <a:avLst/>
          </a:prstGeom>
          <a:noFill/>
        </p:spPr>
        <p:txBody>
          <a:bodyPr wrap="square" lIns="0" tIns="0" rIns="0" bIns="0" rtlCol="0" anchor="ctr"/>
          <a:lstStyle/>
          <a:p>
            <a:pPr marL="0" indent="0">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Tech stack</a:t>
            </a:r>
            <a:endParaRPr lang="en-US" sz="1300" dirty="0"/>
          </a:p>
        </p:txBody>
      </p:sp>
      <p:sp>
        <p:nvSpPr>
          <p:cNvPr id="39" name="Shape 31"/>
          <p:cNvSpPr/>
          <p:nvPr/>
        </p:nvSpPr>
        <p:spPr>
          <a:xfrm>
            <a:off x="4892040" y="3913632"/>
            <a:ext cx="1115568" cy="274320"/>
          </a:xfrm>
          <a:prstGeom prst="roundRect">
            <a:avLst>
              <a:gd name="adj" fmla="val 50000"/>
            </a:avLst>
          </a:prstGeom>
          <a:solidFill>
            <a:srgbClr val="FFFFFF"/>
          </a:solidFill>
          <a:ln w="12700">
            <a:solidFill>
              <a:srgbClr val="0E9F8E"/>
            </a:solidFill>
            <a:prstDash val="solid"/>
          </a:ln>
        </p:spPr>
      </p:sp>
      <p:sp>
        <p:nvSpPr>
          <p:cNvPr id="40" name="Text 32"/>
          <p:cNvSpPr txBox="1"/>
          <p:nvPr/>
        </p:nvSpPr>
        <p:spPr>
          <a:xfrm>
            <a:off x="4892040" y="3913632"/>
            <a:ext cx="1115568" cy="274320"/>
          </a:xfrm>
          <a:prstGeom prst="rect">
            <a:avLst/>
          </a:prstGeom>
          <a:noFill/>
        </p:spPr>
        <p:txBody>
          <a:bodyPr wrap="square" lIns="0" tIns="0" rIns="0" bIns="0" rtlCol="0" anchor="ctr"/>
          <a:lstStyle/>
          <a:p>
            <a:pPr marL="0" indent="0" algn="ctr">
              <a:buNone/>
            </a:pPr>
            <a:r>
              <a:rPr lang="en-US" sz="1050" b="1" dirty="0">
                <a:solidFill>
                  <a:srgbClr val="0E9F8E"/>
                </a:solidFill>
                <a:latin typeface="Calibri" panose="020F0502020204030204" pitchFamily="34" charset="0"/>
                <a:ea typeface="Calibri" panose="020F0502020204030204" pitchFamily="34" charset="-122"/>
                <a:cs typeface="Calibri" panose="020F0502020204030204" pitchFamily="34" charset="-120"/>
              </a:rPr>
              <a:t>Python</a:t>
            </a:r>
            <a:endParaRPr lang="en-US" sz="1050" dirty="0"/>
          </a:p>
        </p:txBody>
      </p:sp>
      <p:sp>
        <p:nvSpPr>
          <p:cNvPr id="41" name="Shape 33"/>
          <p:cNvSpPr/>
          <p:nvPr/>
        </p:nvSpPr>
        <p:spPr>
          <a:xfrm>
            <a:off x="6108192" y="3913632"/>
            <a:ext cx="1115568" cy="274320"/>
          </a:xfrm>
          <a:prstGeom prst="roundRect">
            <a:avLst>
              <a:gd name="adj" fmla="val 50000"/>
            </a:avLst>
          </a:prstGeom>
          <a:solidFill>
            <a:srgbClr val="FFFFFF"/>
          </a:solidFill>
          <a:ln w="12700">
            <a:solidFill>
              <a:srgbClr val="0E9F8E"/>
            </a:solidFill>
            <a:prstDash val="solid"/>
          </a:ln>
        </p:spPr>
      </p:sp>
      <p:sp>
        <p:nvSpPr>
          <p:cNvPr id="42" name="Text 34"/>
          <p:cNvSpPr txBox="1"/>
          <p:nvPr/>
        </p:nvSpPr>
        <p:spPr>
          <a:xfrm>
            <a:off x="6108192" y="3913632"/>
            <a:ext cx="1115568" cy="274320"/>
          </a:xfrm>
          <a:prstGeom prst="rect">
            <a:avLst/>
          </a:prstGeom>
          <a:noFill/>
        </p:spPr>
        <p:txBody>
          <a:bodyPr wrap="square" lIns="0" tIns="0" rIns="0" bIns="0" rtlCol="0" anchor="ctr"/>
          <a:lstStyle/>
          <a:p>
            <a:pPr marL="0" indent="0" algn="ctr">
              <a:buNone/>
            </a:pPr>
            <a:r>
              <a:rPr lang="en-US" sz="1050" b="1" dirty="0">
                <a:solidFill>
                  <a:srgbClr val="0E9F8E"/>
                </a:solidFill>
                <a:latin typeface="Calibri" panose="020F0502020204030204" pitchFamily="34" charset="0"/>
                <a:ea typeface="Calibri" panose="020F0502020204030204" pitchFamily="34" charset="-122"/>
                <a:cs typeface="Calibri" panose="020F0502020204030204" pitchFamily="34" charset="-120"/>
              </a:rPr>
              <a:t>PyTorch</a:t>
            </a:r>
            <a:endParaRPr lang="en-US" sz="1050" dirty="0"/>
          </a:p>
        </p:txBody>
      </p:sp>
      <p:sp>
        <p:nvSpPr>
          <p:cNvPr id="43" name="Shape 35"/>
          <p:cNvSpPr/>
          <p:nvPr/>
        </p:nvSpPr>
        <p:spPr>
          <a:xfrm>
            <a:off x="7324344" y="3913632"/>
            <a:ext cx="1115568" cy="274320"/>
          </a:xfrm>
          <a:prstGeom prst="roundRect">
            <a:avLst>
              <a:gd name="adj" fmla="val 50000"/>
            </a:avLst>
          </a:prstGeom>
          <a:solidFill>
            <a:srgbClr val="FFFFFF"/>
          </a:solidFill>
          <a:ln w="12700">
            <a:solidFill>
              <a:srgbClr val="0E9F8E"/>
            </a:solidFill>
            <a:prstDash val="solid"/>
          </a:ln>
        </p:spPr>
      </p:sp>
      <p:sp>
        <p:nvSpPr>
          <p:cNvPr id="44" name="Text 36"/>
          <p:cNvSpPr txBox="1"/>
          <p:nvPr/>
        </p:nvSpPr>
        <p:spPr>
          <a:xfrm>
            <a:off x="7324344" y="3913632"/>
            <a:ext cx="1115568" cy="274320"/>
          </a:xfrm>
          <a:prstGeom prst="rect">
            <a:avLst/>
          </a:prstGeom>
          <a:noFill/>
        </p:spPr>
        <p:txBody>
          <a:bodyPr wrap="square" lIns="0" tIns="0" rIns="0" bIns="0" rtlCol="0" anchor="ctr"/>
          <a:lstStyle/>
          <a:p>
            <a:pPr marL="0" indent="0" algn="ctr">
              <a:buNone/>
            </a:pPr>
            <a:r>
              <a:rPr lang="en-US" sz="1050" b="1" dirty="0">
                <a:solidFill>
                  <a:srgbClr val="0E9F8E"/>
                </a:solidFill>
                <a:latin typeface="Calibri" panose="020F0502020204030204" pitchFamily="34" charset="0"/>
                <a:ea typeface="Calibri" panose="020F0502020204030204" pitchFamily="34" charset="-122"/>
                <a:cs typeface="Calibri" panose="020F0502020204030204" pitchFamily="34" charset="-120"/>
              </a:rPr>
              <a:t>NumPy</a:t>
            </a:r>
            <a:endParaRPr lang="en-US" sz="1050" dirty="0"/>
          </a:p>
        </p:txBody>
      </p:sp>
      <p:sp>
        <p:nvSpPr>
          <p:cNvPr id="45" name="Shape 37"/>
          <p:cNvSpPr/>
          <p:nvPr/>
        </p:nvSpPr>
        <p:spPr>
          <a:xfrm>
            <a:off x="4892040" y="4261104"/>
            <a:ext cx="1115568" cy="274320"/>
          </a:xfrm>
          <a:prstGeom prst="roundRect">
            <a:avLst>
              <a:gd name="adj" fmla="val 50000"/>
            </a:avLst>
          </a:prstGeom>
          <a:solidFill>
            <a:srgbClr val="FFFFFF"/>
          </a:solidFill>
          <a:ln w="12700">
            <a:solidFill>
              <a:srgbClr val="0E9F8E"/>
            </a:solidFill>
            <a:prstDash val="solid"/>
          </a:ln>
        </p:spPr>
      </p:sp>
      <p:sp>
        <p:nvSpPr>
          <p:cNvPr id="46" name="Text 38"/>
          <p:cNvSpPr txBox="1"/>
          <p:nvPr/>
        </p:nvSpPr>
        <p:spPr>
          <a:xfrm>
            <a:off x="4892040" y="4261104"/>
            <a:ext cx="1115568" cy="274320"/>
          </a:xfrm>
          <a:prstGeom prst="rect">
            <a:avLst/>
          </a:prstGeom>
          <a:noFill/>
        </p:spPr>
        <p:txBody>
          <a:bodyPr wrap="square" lIns="0" tIns="0" rIns="0" bIns="0" rtlCol="0" anchor="ctr"/>
          <a:lstStyle/>
          <a:p>
            <a:pPr marL="0" indent="0" algn="ctr">
              <a:buNone/>
            </a:pPr>
            <a:r>
              <a:rPr lang="en-US" sz="1050" b="1" dirty="0">
                <a:solidFill>
                  <a:srgbClr val="0E9F8E"/>
                </a:solidFill>
                <a:latin typeface="Calibri" panose="020F0502020204030204" pitchFamily="34" charset="0"/>
                <a:ea typeface="Calibri" panose="020F0502020204030204" pitchFamily="34" charset="-122"/>
                <a:cs typeface="Calibri" panose="020F0502020204030204" pitchFamily="34" charset="-120"/>
              </a:rPr>
              <a:t>Pandas</a:t>
            </a:r>
            <a:endParaRPr lang="en-US" sz="1050" dirty="0"/>
          </a:p>
        </p:txBody>
      </p:sp>
      <p:sp>
        <p:nvSpPr>
          <p:cNvPr id="47" name="Shape 39"/>
          <p:cNvSpPr/>
          <p:nvPr/>
        </p:nvSpPr>
        <p:spPr>
          <a:xfrm>
            <a:off x="6108192" y="4261104"/>
            <a:ext cx="1115568" cy="274320"/>
          </a:xfrm>
          <a:prstGeom prst="roundRect">
            <a:avLst>
              <a:gd name="adj" fmla="val 50000"/>
            </a:avLst>
          </a:prstGeom>
          <a:solidFill>
            <a:srgbClr val="FFFFFF"/>
          </a:solidFill>
          <a:ln w="12700">
            <a:solidFill>
              <a:srgbClr val="0E9F8E"/>
            </a:solidFill>
            <a:prstDash val="solid"/>
          </a:ln>
        </p:spPr>
      </p:sp>
      <p:sp>
        <p:nvSpPr>
          <p:cNvPr id="48" name="Text 40"/>
          <p:cNvSpPr txBox="1"/>
          <p:nvPr/>
        </p:nvSpPr>
        <p:spPr>
          <a:xfrm>
            <a:off x="6108192" y="4261104"/>
            <a:ext cx="1115568" cy="274320"/>
          </a:xfrm>
          <a:prstGeom prst="rect">
            <a:avLst/>
          </a:prstGeom>
          <a:noFill/>
        </p:spPr>
        <p:txBody>
          <a:bodyPr wrap="square" lIns="0" tIns="0" rIns="0" bIns="0" rtlCol="0" anchor="ctr"/>
          <a:lstStyle/>
          <a:p>
            <a:pPr marL="0" indent="0" algn="ctr">
              <a:buNone/>
            </a:pPr>
            <a:r>
              <a:rPr lang="en-US" sz="1050" b="1" dirty="0">
                <a:solidFill>
                  <a:srgbClr val="0E9F8E"/>
                </a:solidFill>
                <a:latin typeface="Calibri" panose="020F0502020204030204" pitchFamily="34" charset="0"/>
                <a:ea typeface="Calibri" panose="020F0502020204030204" pitchFamily="34" charset="-122"/>
                <a:cs typeface="Calibri" panose="020F0502020204030204" pitchFamily="34" charset="-120"/>
              </a:rPr>
              <a:t>Matplotlib</a:t>
            </a:r>
            <a:endParaRPr lang="en-US" sz="1050" dirty="0"/>
          </a:p>
        </p:txBody>
      </p:sp>
      <p:sp>
        <p:nvSpPr>
          <p:cNvPr id="49" name="Shape 41"/>
          <p:cNvSpPr/>
          <p:nvPr/>
        </p:nvSpPr>
        <p:spPr>
          <a:xfrm>
            <a:off x="7324344" y="4261104"/>
            <a:ext cx="1115568" cy="274320"/>
          </a:xfrm>
          <a:prstGeom prst="roundRect">
            <a:avLst>
              <a:gd name="adj" fmla="val 50000"/>
            </a:avLst>
          </a:prstGeom>
          <a:solidFill>
            <a:srgbClr val="FFFFFF"/>
          </a:solidFill>
          <a:ln w="12700">
            <a:solidFill>
              <a:srgbClr val="0E9F8E"/>
            </a:solidFill>
            <a:prstDash val="solid"/>
          </a:ln>
        </p:spPr>
      </p:sp>
      <p:sp>
        <p:nvSpPr>
          <p:cNvPr id="50" name="Text 42"/>
          <p:cNvSpPr txBox="1"/>
          <p:nvPr/>
        </p:nvSpPr>
        <p:spPr>
          <a:xfrm>
            <a:off x="7324344" y="4261104"/>
            <a:ext cx="1115568" cy="274320"/>
          </a:xfrm>
          <a:prstGeom prst="rect">
            <a:avLst/>
          </a:prstGeom>
          <a:noFill/>
        </p:spPr>
        <p:txBody>
          <a:bodyPr wrap="square" lIns="0" tIns="0" rIns="0" bIns="0" rtlCol="0" anchor="ctr"/>
          <a:lstStyle/>
          <a:p>
            <a:pPr marL="0" indent="0" algn="ctr">
              <a:buNone/>
            </a:pPr>
            <a:r>
              <a:rPr lang="en-US" sz="1050" b="1" dirty="0">
                <a:solidFill>
                  <a:srgbClr val="0E9F8E"/>
                </a:solidFill>
                <a:latin typeface="Calibri" panose="020F0502020204030204" pitchFamily="34" charset="0"/>
                <a:ea typeface="Calibri" panose="020F0502020204030204" pitchFamily="34" charset="-122"/>
                <a:cs typeface="Calibri" panose="020F0502020204030204" pitchFamily="34" charset="-120"/>
              </a:rPr>
              <a:t>Jupyter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457200" cy="457200"/>
          </a:xfrm>
          <a:prstGeom prst="rect">
            <a:avLst/>
          </a:prstGeom>
          <a:noFill/>
        </p:spPr>
        <p:txBody>
          <a:bodyPr wrap="square" lIns="0" tIns="0" rIns="0" bIns="0" rtlCol="0" anchor="ctr"/>
          <a:lstStyle/>
          <a:p>
            <a:pPr marL="0" indent="0">
              <a:buNone/>
            </a:pPr>
            <a:endParaRPr lang="en-US" sz="1300" dirty="0"/>
          </a:p>
        </p:txBody>
      </p:sp>
      <p:sp>
        <p:nvSpPr>
          <p:cNvPr id="3" name="Text 1"/>
          <p:cNvSpPr txBox="1"/>
          <p:nvPr/>
        </p:nvSpPr>
        <p:spPr>
          <a:xfrm>
            <a:off x="868680" y="274320"/>
            <a:ext cx="7863840" cy="530352"/>
          </a:xfrm>
          <a:prstGeom prst="rect">
            <a:avLst/>
          </a:prstGeom>
          <a:noFill/>
        </p:spPr>
        <p:txBody>
          <a:bodyPr wrap="square" lIns="0" tIns="0" rIns="0" bIns="0" rtlCol="0" anchor="ctr"/>
          <a:lstStyle/>
          <a:p>
            <a:pPr marL="0" indent="0">
              <a:buNone/>
            </a:pPr>
            <a:r>
              <a:rPr lang="en-US" sz="2400" b="1" dirty="0">
                <a:solidFill>
                  <a:srgbClr val="0B1426"/>
                </a:solidFill>
                <a:latin typeface="Arial" panose="020B0604020202020204" pitchFamily="34" charset="0"/>
                <a:ea typeface="Arial" panose="020B0604020202020204" pitchFamily="34" charset="-122"/>
                <a:cs typeface="Arial" panose="020B0604020202020204" pitchFamily="34" charset="-120"/>
              </a:rPr>
              <a:t>Simulation Results</a:t>
            </a:r>
            <a:endParaRPr lang="en-US" sz="2400" dirty="0"/>
          </a:p>
        </p:txBody>
      </p:sp>
      <p:sp>
        <p:nvSpPr>
          <p:cNvPr id="4" name="Text 2"/>
          <p:cNvSpPr txBox="1"/>
          <p:nvPr/>
        </p:nvSpPr>
        <p:spPr>
          <a:xfrm>
            <a:off x="457200" y="4828032"/>
            <a:ext cx="5486400" cy="201168"/>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SAC · Semantic-Aware Hybrid NOMA  |  ML (25SC2107E) Review 2</a:t>
            </a:r>
            <a:endParaRPr lang="en-US" sz="900" dirty="0"/>
          </a:p>
        </p:txBody>
      </p:sp>
      <p:graphicFrame>
        <p:nvGraphicFramePr>
          <p:cNvPr id="5" name="Chart 0"/>
          <p:cNvGraphicFramePr/>
          <p:nvPr/>
        </p:nvGraphicFramePr>
        <p:xfrm>
          <a:off x="365760" y="914400"/>
          <a:ext cx="4160520" cy="33832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6" name="Chart 1"/>
          <p:cNvGraphicFramePr/>
          <p:nvPr/>
        </p:nvGraphicFramePr>
        <p:xfrm>
          <a:off x="4663440" y="914400"/>
          <a:ext cx="4114800" cy="338328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3"/>
          <p:cNvSpPr txBox="1"/>
          <p:nvPr/>
        </p:nvSpPr>
        <p:spPr>
          <a:xfrm>
            <a:off x="457200" y="4389120"/>
            <a:ext cx="8229600" cy="320040"/>
          </a:xfrm>
          <a:prstGeom prst="rect">
            <a:avLst/>
          </a:prstGeom>
          <a:noFill/>
        </p:spPr>
        <p:txBody>
          <a:bodyPr wrap="square" lIns="0" tIns="0" rIns="0" bIns="0" rtlCol="0" anchor="ctr"/>
          <a:lstStyle/>
          <a:p>
            <a:pPr marL="0" indent="0">
              <a:buNone/>
            </a:pPr>
            <a:r>
              <a:rPr lang="en-US" sz="1000" i="1" dirty="0">
                <a:solidFill>
                  <a:srgbClr val="64748B"/>
                </a:solidFill>
                <a:latin typeface="Calibri" panose="020F0502020204030204" pitchFamily="34" charset="0"/>
                <a:ea typeface="Calibri" panose="020F0502020204030204" pitchFamily="34" charset="-122"/>
                <a:cs typeface="Calibri" panose="020F0502020204030204" pitchFamily="34" charset="-120"/>
              </a:rPr>
              <a:t>Default configuration (20 users, 5 subcarriers, 10 MHz, 10 W, 1 s), seed 42. Replace with your own run's numbers if they differ.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457200" cy="457200"/>
          </a:xfrm>
          <a:prstGeom prst="rect">
            <a:avLst/>
          </a:prstGeom>
          <a:noFill/>
        </p:spPr>
        <p:txBody>
          <a:bodyPr wrap="square" lIns="0" tIns="0" rIns="0" bIns="0" rtlCol="0" anchor="ctr"/>
          <a:lstStyle/>
          <a:p>
            <a:pPr marL="0" indent="0">
              <a:buNone/>
            </a:pPr>
            <a:endParaRPr lang="en-US" sz="1300" dirty="0"/>
          </a:p>
        </p:txBody>
      </p:sp>
      <p:sp>
        <p:nvSpPr>
          <p:cNvPr id="3" name="Text 1"/>
          <p:cNvSpPr txBox="1"/>
          <p:nvPr/>
        </p:nvSpPr>
        <p:spPr>
          <a:xfrm>
            <a:off x="868680" y="274320"/>
            <a:ext cx="7863840" cy="530352"/>
          </a:xfrm>
          <a:prstGeom prst="rect">
            <a:avLst/>
          </a:prstGeom>
          <a:noFill/>
        </p:spPr>
        <p:txBody>
          <a:bodyPr wrap="square" lIns="0" tIns="0" rIns="0" bIns="0" rtlCol="0" anchor="ctr"/>
          <a:lstStyle/>
          <a:p>
            <a:pPr marL="0" indent="0">
              <a:buNone/>
            </a:pPr>
            <a:r>
              <a:rPr lang="en-US" sz="2400" b="1" dirty="0">
                <a:solidFill>
                  <a:srgbClr val="0B1426"/>
                </a:solidFill>
                <a:latin typeface="Arial" panose="020B0604020202020204" pitchFamily="34" charset="0"/>
                <a:ea typeface="Arial" panose="020B0604020202020204" pitchFamily="34" charset="-122"/>
                <a:cs typeface="Arial" panose="020B0604020202020204" pitchFamily="34" charset="-120"/>
              </a:rPr>
              <a:t>Key Findings</a:t>
            </a:r>
            <a:endParaRPr lang="en-US" sz="2400" dirty="0"/>
          </a:p>
        </p:txBody>
      </p:sp>
      <p:sp>
        <p:nvSpPr>
          <p:cNvPr id="4" name="Text 2"/>
          <p:cNvSpPr txBox="1"/>
          <p:nvPr/>
        </p:nvSpPr>
        <p:spPr>
          <a:xfrm>
            <a:off x="457200" y="4828032"/>
            <a:ext cx="5486400" cy="201168"/>
          </a:xfrm>
          <a:prstGeom prst="rect">
            <a:avLst/>
          </a:prstGeom>
          <a:noFill/>
        </p:spPr>
        <p:txBody>
          <a:bodyPr wrap="square" lIns="0" tIns="0" rIns="0" bIns="0" rtlCol="0" anchor="ctr"/>
          <a:lstStyle/>
          <a:p>
            <a:pPr marL="0" indent="0">
              <a:buNone/>
            </a:pPr>
            <a:r>
              <a:rPr lang="en-US" sz="900" dirty="0">
                <a:solidFill>
                  <a:srgbClr val="94A3B8"/>
                </a:solidFill>
                <a:latin typeface="Calibri" panose="020F0502020204030204" pitchFamily="34" charset="0"/>
                <a:ea typeface="Calibri" panose="020F0502020204030204" pitchFamily="34" charset="-122"/>
                <a:cs typeface="Calibri" panose="020F0502020204030204" pitchFamily="34" charset="-120"/>
              </a:rPr>
              <a:t>SAC · Semantic-Aware Hybrid NOMA  |  ML (25SC2107E) Review 2</a:t>
            </a:r>
            <a:endParaRPr lang="en-US" sz="900" dirty="0"/>
          </a:p>
        </p:txBody>
      </p:sp>
      <p:sp>
        <p:nvSpPr>
          <p:cNvPr id="5" name="Shape 3"/>
          <p:cNvSpPr/>
          <p:nvPr/>
        </p:nvSpPr>
        <p:spPr>
          <a:xfrm>
            <a:off x="457200" y="1005840"/>
            <a:ext cx="2606040" cy="1600200"/>
          </a:xfrm>
          <a:prstGeom prst="rect">
            <a:avLst/>
          </a:prstGeom>
          <a:solidFill>
            <a:srgbClr val="E3F4F2"/>
          </a:solidFill>
          <a:ln w="12700">
            <a:solidFill>
              <a:srgbClr val="E3F4F2"/>
            </a:solidFill>
            <a:prstDash val="solid"/>
          </a:ln>
        </p:spPr>
      </p:sp>
      <p:sp>
        <p:nvSpPr>
          <p:cNvPr id="6" name="Text 4"/>
          <p:cNvSpPr txBox="1"/>
          <p:nvPr/>
        </p:nvSpPr>
        <p:spPr>
          <a:xfrm>
            <a:off x="457200" y="1051560"/>
            <a:ext cx="2606040" cy="777240"/>
          </a:xfrm>
          <a:prstGeom prst="rect">
            <a:avLst/>
          </a:prstGeom>
          <a:noFill/>
        </p:spPr>
        <p:txBody>
          <a:bodyPr wrap="square" lIns="0" tIns="0" rIns="0" bIns="0" rtlCol="0" anchor="ctr"/>
          <a:lstStyle/>
          <a:p>
            <a:pPr marL="0" indent="0" algn="ctr">
              <a:buNone/>
            </a:pPr>
            <a:r>
              <a:rPr lang="en-US" sz="4000" b="1" dirty="0">
                <a:solidFill>
                  <a:srgbClr val="0E9F8E"/>
                </a:solidFill>
                <a:latin typeface="Arial" panose="020B0604020202020204" pitchFamily="34" charset="0"/>
                <a:ea typeface="Arial" panose="020B0604020202020204" pitchFamily="34" charset="-122"/>
                <a:cs typeface="Arial" panose="020B0604020202020204" pitchFamily="34" charset="-120"/>
              </a:rPr>
              <a:t>+86%</a:t>
            </a:r>
            <a:endParaRPr lang="en-US" sz="4000" dirty="0"/>
          </a:p>
        </p:txBody>
      </p:sp>
      <p:sp>
        <p:nvSpPr>
          <p:cNvPr id="7" name="Text 5"/>
          <p:cNvSpPr txBox="1"/>
          <p:nvPr/>
        </p:nvSpPr>
        <p:spPr>
          <a:xfrm>
            <a:off x="457200" y="1828800"/>
            <a:ext cx="2606040" cy="685800"/>
          </a:xfrm>
          <a:prstGeom prst="rect">
            <a:avLst/>
          </a:prstGeom>
          <a:noFill/>
        </p:spPr>
        <p:txBody>
          <a:bodyPr wrap="square" lIns="0" tIns="0" rIns="0" bIns="0" rtlCol="0" anchor="ctr"/>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Energy efficiency</a:t>
            </a:r>
            <a:endParaRPr lang="en-US" sz="1300" dirty="0"/>
          </a:p>
          <a:p>
            <a:pPr marL="0" indent="0" algn="ctr">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3.05 vs 1.64 Mbps/W</a:t>
            </a:r>
            <a:endParaRPr lang="en-US" sz="1300" dirty="0"/>
          </a:p>
        </p:txBody>
      </p:sp>
      <p:sp>
        <p:nvSpPr>
          <p:cNvPr id="8" name="Shape 6"/>
          <p:cNvSpPr/>
          <p:nvPr/>
        </p:nvSpPr>
        <p:spPr>
          <a:xfrm>
            <a:off x="3264408" y="1005840"/>
            <a:ext cx="2606040" cy="1600200"/>
          </a:xfrm>
          <a:prstGeom prst="rect">
            <a:avLst/>
          </a:prstGeom>
          <a:solidFill>
            <a:srgbClr val="E3F4F2"/>
          </a:solidFill>
          <a:ln w="12700">
            <a:solidFill>
              <a:srgbClr val="E3F4F2"/>
            </a:solidFill>
            <a:prstDash val="solid"/>
          </a:ln>
        </p:spPr>
      </p:sp>
      <p:sp>
        <p:nvSpPr>
          <p:cNvPr id="9" name="Text 7"/>
          <p:cNvSpPr txBox="1"/>
          <p:nvPr/>
        </p:nvSpPr>
        <p:spPr>
          <a:xfrm>
            <a:off x="3264408" y="1051560"/>
            <a:ext cx="2606040" cy="777240"/>
          </a:xfrm>
          <a:prstGeom prst="rect">
            <a:avLst/>
          </a:prstGeom>
          <a:noFill/>
        </p:spPr>
        <p:txBody>
          <a:bodyPr wrap="square" lIns="0" tIns="0" rIns="0" bIns="0" rtlCol="0" anchor="ctr"/>
          <a:lstStyle/>
          <a:p>
            <a:pPr marL="0" indent="0" algn="ctr">
              <a:buNone/>
            </a:pPr>
            <a:r>
              <a:rPr lang="en-US" sz="4000" b="1" dirty="0">
                <a:solidFill>
                  <a:srgbClr val="0E9F8E"/>
                </a:solidFill>
                <a:latin typeface="Arial" panose="020B0604020202020204" pitchFamily="34" charset="0"/>
                <a:ea typeface="Arial" panose="020B0604020202020204" pitchFamily="34" charset="-122"/>
                <a:cs typeface="Arial" panose="020B0604020202020204" pitchFamily="34" charset="-120"/>
              </a:rPr>
              <a:t>−48%</a:t>
            </a:r>
            <a:endParaRPr lang="en-US" sz="4000" dirty="0"/>
          </a:p>
        </p:txBody>
      </p:sp>
      <p:sp>
        <p:nvSpPr>
          <p:cNvPr id="10" name="Text 8"/>
          <p:cNvSpPr txBox="1"/>
          <p:nvPr/>
        </p:nvSpPr>
        <p:spPr>
          <a:xfrm>
            <a:off x="3264408" y="1828800"/>
            <a:ext cx="2606040" cy="685800"/>
          </a:xfrm>
          <a:prstGeom prst="rect">
            <a:avLst/>
          </a:prstGeom>
          <a:noFill/>
        </p:spPr>
        <p:txBody>
          <a:bodyPr wrap="square" lIns="0" tIns="0" rIns="0" bIns="0" rtlCol="0" anchor="ctr"/>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Transmit power used</a:t>
            </a:r>
            <a:endParaRPr lang="en-US" sz="1300" dirty="0"/>
          </a:p>
          <a:p>
            <a:pPr marL="0" indent="0" algn="ctr">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5.19 W vs 10 W</a:t>
            </a:r>
            <a:endParaRPr lang="en-US" sz="1300" dirty="0"/>
          </a:p>
        </p:txBody>
      </p:sp>
      <p:sp>
        <p:nvSpPr>
          <p:cNvPr id="11" name="Shape 9"/>
          <p:cNvSpPr/>
          <p:nvPr/>
        </p:nvSpPr>
        <p:spPr>
          <a:xfrm>
            <a:off x="6071616" y="1005840"/>
            <a:ext cx="2606040" cy="1600200"/>
          </a:xfrm>
          <a:prstGeom prst="rect">
            <a:avLst/>
          </a:prstGeom>
          <a:solidFill>
            <a:srgbClr val="FDF1D6"/>
          </a:solidFill>
          <a:ln w="12700">
            <a:solidFill>
              <a:srgbClr val="FDF1D6"/>
            </a:solidFill>
            <a:prstDash val="solid"/>
          </a:ln>
        </p:spPr>
      </p:sp>
      <p:sp>
        <p:nvSpPr>
          <p:cNvPr id="12" name="Text 10"/>
          <p:cNvSpPr txBox="1"/>
          <p:nvPr/>
        </p:nvSpPr>
        <p:spPr>
          <a:xfrm>
            <a:off x="6071616" y="1051560"/>
            <a:ext cx="2606040" cy="777240"/>
          </a:xfrm>
          <a:prstGeom prst="rect">
            <a:avLst/>
          </a:prstGeom>
          <a:noFill/>
        </p:spPr>
        <p:txBody>
          <a:bodyPr wrap="square" lIns="0" tIns="0" rIns="0" bIns="0" rtlCol="0" anchor="ctr"/>
          <a:lstStyle/>
          <a:p>
            <a:pPr marL="0" indent="0" algn="ctr">
              <a:buNone/>
            </a:pPr>
            <a:r>
              <a:rPr lang="en-US" sz="4000" b="1" dirty="0">
                <a:solidFill>
                  <a:srgbClr val="E89B0C"/>
                </a:solidFill>
                <a:latin typeface="Arial" panose="020B0604020202020204" pitchFamily="34" charset="0"/>
                <a:ea typeface="Arial" panose="020B0604020202020204" pitchFamily="34" charset="-122"/>
                <a:cs typeface="Arial" panose="020B0604020202020204" pitchFamily="34" charset="-120"/>
              </a:rPr>
              <a:t>96.6%</a:t>
            </a:r>
            <a:endParaRPr lang="en-US" sz="4000" dirty="0"/>
          </a:p>
        </p:txBody>
      </p:sp>
      <p:sp>
        <p:nvSpPr>
          <p:cNvPr id="13" name="Text 11"/>
          <p:cNvSpPr txBox="1"/>
          <p:nvPr/>
        </p:nvSpPr>
        <p:spPr>
          <a:xfrm>
            <a:off x="6071616" y="1828800"/>
            <a:ext cx="2606040" cy="685800"/>
          </a:xfrm>
          <a:prstGeom prst="rect">
            <a:avLst/>
          </a:prstGeom>
          <a:noFill/>
        </p:spPr>
        <p:txBody>
          <a:bodyPr wrap="square" lIns="0" tIns="0" rIns="0" bIns="0" rtlCol="0" anchor="ctr"/>
          <a:lstStyle/>
          <a:p>
            <a:pPr marL="0" indent="0" algn="ctr">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Throughput retained</a:t>
            </a:r>
            <a:endParaRPr lang="en-US" sz="1300" dirty="0"/>
          </a:p>
          <a:p>
            <a:pPr marL="0" indent="0" algn="ctr">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15.86 vs 16.42 Mbps</a:t>
            </a:r>
            <a:endParaRPr lang="en-US" sz="1300" dirty="0"/>
          </a:p>
        </p:txBody>
      </p:sp>
      <p:sp>
        <p:nvSpPr>
          <p:cNvPr id="14" name="Shape 12"/>
          <p:cNvSpPr/>
          <p:nvPr/>
        </p:nvSpPr>
        <p:spPr>
          <a:xfrm>
            <a:off x="457200" y="2926080"/>
            <a:ext cx="502920" cy="502920"/>
          </a:xfrm>
          <a:prstGeom prst="ellipse">
            <a:avLst/>
          </a:prstGeom>
          <a:solidFill>
            <a:srgbClr val="0E9F8E"/>
          </a:solidFill>
          <a:ln w="12700">
            <a:solidFill>
              <a:srgbClr val="0E9F8E"/>
            </a:solidFill>
            <a:prstDash val="solid"/>
          </a:ln>
        </p:spPr>
      </p:sp>
      <p:pic>
        <p:nvPicPr>
          <p:cNvPr id="15" name="Image 0" descr="preencoded.png"/>
          <p:cNvPicPr>
            <a:picLocks noChangeAspect="1"/>
          </p:cNvPicPr>
          <p:nvPr/>
        </p:nvPicPr>
        <p:blipFill>
          <a:blip r:embed="rId1"/>
          <a:stretch>
            <a:fillRect/>
          </a:stretch>
        </p:blipFill>
        <p:spPr>
          <a:xfrm>
            <a:off x="587959" y="3056839"/>
            <a:ext cx="241402" cy="241402"/>
          </a:xfrm>
          <a:prstGeom prst="rect">
            <a:avLst/>
          </a:prstGeom>
        </p:spPr>
      </p:pic>
      <p:sp>
        <p:nvSpPr>
          <p:cNvPr id="16" name="Text 13"/>
          <p:cNvSpPr txBox="1"/>
          <p:nvPr/>
        </p:nvSpPr>
        <p:spPr>
          <a:xfrm>
            <a:off x="1143000" y="2834640"/>
            <a:ext cx="7543800" cy="822960"/>
          </a:xfrm>
          <a:prstGeom prst="rect">
            <a:avLst/>
          </a:prstGeom>
          <a:noFill/>
        </p:spPr>
        <p:txBody>
          <a:bodyPr wrap="square" lIns="0" tIns="0" rIns="0" bIns="0" rtlCol="0" anchor="ctr"/>
          <a:lstStyle/>
          <a:p>
            <a:pPr marL="0" indent="0">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SAC learned budget control</a:t>
            </a:r>
            <a:endParaRPr lang="en-US" sz="1300" dirty="0"/>
          </a:p>
          <a:p>
            <a:pPr marL="0" indent="0">
              <a:buNone/>
            </a:pPr>
            <a:r>
              <a:rPr lang="en-US" sz="1200" dirty="0">
                <a:solidFill>
                  <a:srgbClr val="1F2937"/>
                </a:solidFill>
                <a:latin typeface="Calibri" panose="020F0502020204030204" pitchFamily="34" charset="0"/>
                <a:ea typeface="Calibri" panose="020F0502020204030204" pitchFamily="34" charset="-122"/>
                <a:cs typeface="Calibri" panose="020F0502020204030204" pitchFamily="34" charset="-120"/>
              </a:rPr>
              <a:t>NOMA clusters are interference-limited: scaling all powers down barely changes SINR, so SAC cuts total power to ~52% of the budget with almost no rate loss.</a:t>
            </a:r>
            <a:endParaRPr lang="en-US" sz="1300" dirty="0"/>
          </a:p>
        </p:txBody>
      </p:sp>
      <p:sp>
        <p:nvSpPr>
          <p:cNvPr id="17" name="Shape 14"/>
          <p:cNvSpPr/>
          <p:nvPr/>
        </p:nvSpPr>
        <p:spPr>
          <a:xfrm>
            <a:off x="457200" y="3840480"/>
            <a:ext cx="502920" cy="502920"/>
          </a:xfrm>
          <a:prstGeom prst="ellipse">
            <a:avLst/>
          </a:prstGeom>
          <a:solidFill>
            <a:srgbClr val="E89B0C"/>
          </a:solidFill>
          <a:ln w="12700">
            <a:solidFill>
              <a:srgbClr val="E89B0C"/>
            </a:solidFill>
            <a:prstDash val="solid"/>
          </a:ln>
        </p:spPr>
      </p:sp>
      <p:pic>
        <p:nvPicPr>
          <p:cNvPr id="18" name="Image 1" descr="preencoded.png"/>
          <p:cNvPicPr>
            <a:picLocks noChangeAspect="1"/>
          </p:cNvPicPr>
          <p:nvPr/>
        </p:nvPicPr>
        <p:blipFill>
          <a:blip r:embed="rId2"/>
          <a:stretch>
            <a:fillRect/>
          </a:stretch>
        </p:blipFill>
        <p:spPr>
          <a:xfrm>
            <a:off x="587959" y="3971239"/>
            <a:ext cx="241402" cy="241402"/>
          </a:xfrm>
          <a:prstGeom prst="rect">
            <a:avLst/>
          </a:prstGeom>
        </p:spPr>
      </p:pic>
      <p:sp>
        <p:nvSpPr>
          <p:cNvPr id="19" name="Text 15"/>
          <p:cNvSpPr txBox="1"/>
          <p:nvPr/>
        </p:nvSpPr>
        <p:spPr>
          <a:xfrm>
            <a:off x="1143000" y="3749040"/>
            <a:ext cx="7543800" cy="822960"/>
          </a:xfrm>
          <a:prstGeom prst="rect">
            <a:avLst/>
          </a:prstGeom>
          <a:noFill/>
        </p:spPr>
        <p:txBody>
          <a:bodyPr wrap="square" lIns="0" tIns="0" rIns="0" bIns="0" rtlCol="0" anchor="ctr"/>
          <a:lstStyle/>
          <a:p>
            <a:pPr marL="0" indent="0">
              <a:buNone/>
            </a:pPr>
            <a:r>
              <a:rPr lang="en-US" sz="1300" b="1" dirty="0">
                <a:solidFill>
                  <a:srgbClr val="0B1426"/>
                </a:solidFill>
                <a:latin typeface="Calibri" panose="020F0502020204030204" pitchFamily="34" charset="0"/>
                <a:ea typeface="Calibri" panose="020F0502020204030204" pitchFamily="34" charset="-122"/>
                <a:cs typeface="Calibri" panose="020F0502020204030204" pitchFamily="34" charset="-120"/>
              </a:rPr>
              <a:t>Per-user split is still near-uniform</a:t>
            </a:r>
            <a:endParaRPr lang="en-US" sz="1300" dirty="0"/>
          </a:p>
          <a:p>
            <a:pPr marL="0" indent="0">
              <a:buNone/>
            </a:pPr>
            <a:r>
              <a:rPr lang="en-US" sz="1200" dirty="0">
                <a:solidFill>
                  <a:srgbClr val="1F2937"/>
                </a:solidFill>
                <a:latin typeface="Calibri" panose="020F0502020204030204" pitchFamily="34" charset="0"/>
                <a:ea typeface="Calibri" panose="020F0502020204030204" pitchFamily="34" charset="-122"/>
                <a:cs typeface="Calibri" panose="020F0502020204030204" pitchFamily="34" charset="-120"/>
              </a:rPr>
              <a:t>Semantic users are not yet prioritised (semantic utility −0.4%). The reward signal is dominated by channel randomness, so fine-grained allocation has not emerged in 1,200 episodes.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426"/>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457200" cy="457200"/>
          </a:xfrm>
          <a:prstGeom prst="rect">
            <a:avLst/>
          </a:prstGeom>
          <a:noFill/>
        </p:spPr>
        <p:txBody>
          <a:bodyPr wrap="square" lIns="0" tIns="0" rIns="0" bIns="0" rtlCol="0" anchor="ctr"/>
          <a:lstStyle/>
          <a:p>
            <a:pPr marL="0" indent="0">
              <a:buNone/>
            </a:pPr>
            <a:endParaRPr lang="en-US" sz="1300" dirty="0"/>
          </a:p>
        </p:txBody>
      </p:sp>
      <p:sp>
        <p:nvSpPr>
          <p:cNvPr id="3" name="Text 1"/>
          <p:cNvSpPr txBox="1"/>
          <p:nvPr/>
        </p:nvSpPr>
        <p:spPr>
          <a:xfrm>
            <a:off x="868680" y="274320"/>
            <a:ext cx="7863840" cy="530352"/>
          </a:xfrm>
          <a:prstGeom prst="rect">
            <a:avLst/>
          </a:prstGeom>
          <a:noFill/>
        </p:spPr>
        <p:txBody>
          <a:bodyPr wrap="square" lIns="0" tIns="0" rIns="0" bIns="0" rtlCol="0" anchor="ctr"/>
          <a:lstStyle/>
          <a:p>
            <a:pPr marL="0" indent="0">
              <a:buNone/>
            </a:pPr>
            <a:r>
              <a:rPr lang="en-US" sz="2400" b="1" dirty="0">
                <a:solidFill>
                  <a:srgbClr val="FFFFFF"/>
                </a:solidFill>
                <a:latin typeface="Arial" panose="020B0604020202020204" pitchFamily="34" charset="0"/>
                <a:ea typeface="Arial" panose="020B0604020202020204" pitchFamily="34" charset="-122"/>
                <a:cs typeface="Arial" panose="020B0604020202020204" pitchFamily="34" charset="-120"/>
              </a:rPr>
              <a:t>Current Progress &amp; Remaining Work</a:t>
            </a:r>
            <a:endParaRPr lang="en-US" sz="2400" dirty="0"/>
          </a:p>
        </p:txBody>
      </p:sp>
      <p:pic>
        <p:nvPicPr>
          <p:cNvPr id="4" name="Image 0" descr="preencoded.png"/>
          <p:cNvPicPr>
            <a:picLocks noChangeAspect="1"/>
          </p:cNvPicPr>
          <p:nvPr/>
        </p:nvPicPr>
        <p:blipFill>
          <a:blip r:embed="rId1"/>
          <a:stretch>
            <a:fillRect/>
          </a:stretch>
        </p:blipFill>
        <p:spPr>
          <a:xfrm>
            <a:off x="457200" y="1005840"/>
            <a:ext cx="256032" cy="256032"/>
          </a:xfrm>
          <a:prstGeom prst="rect">
            <a:avLst/>
          </a:prstGeom>
        </p:spPr>
      </p:pic>
      <p:sp>
        <p:nvSpPr>
          <p:cNvPr id="5" name="Text 2"/>
          <p:cNvSpPr txBox="1"/>
          <p:nvPr/>
        </p:nvSpPr>
        <p:spPr>
          <a:xfrm>
            <a:off x="822960" y="978408"/>
            <a:ext cx="3474720" cy="310896"/>
          </a:xfrm>
          <a:prstGeom prst="rect">
            <a:avLst/>
          </a:prstGeom>
          <a:noFill/>
        </p:spPr>
        <p:txBody>
          <a:bodyPr wrap="square" lIns="0" tIns="0" rIns="0" bIns="0" rtlCol="0" anchor="ctr"/>
          <a:lstStyle/>
          <a:p>
            <a:pPr marL="0" indent="0">
              <a:buNone/>
            </a:pPr>
            <a:r>
              <a:rPr lang="en-US" sz="1400" b="1" dirty="0">
                <a:solidFill>
                  <a:srgbClr val="0E9F8E"/>
                </a:solidFill>
                <a:latin typeface="Arial" panose="020B0604020202020204" pitchFamily="34" charset="0"/>
                <a:ea typeface="Arial" panose="020B0604020202020204" pitchFamily="34" charset="-122"/>
                <a:cs typeface="Arial" panose="020B0604020202020204" pitchFamily="34" charset="-120"/>
              </a:rPr>
              <a:t>Completed</a:t>
            </a:r>
            <a:endParaRPr lang="en-US" sz="1400" dirty="0"/>
          </a:p>
        </p:txBody>
      </p:sp>
      <p:sp>
        <p:nvSpPr>
          <p:cNvPr id="6" name="Text 3"/>
          <p:cNvSpPr txBox="1"/>
          <p:nvPr/>
        </p:nvSpPr>
        <p:spPr>
          <a:xfrm>
            <a:off x="457200" y="1371600"/>
            <a:ext cx="3840480" cy="1417320"/>
          </a:xfrm>
          <a:prstGeom prst="rect">
            <a:avLst/>
          </a:prstGeom>
          <a:noFill/>
        </p:spPr>
        <p:txBody>
          <a:bodyPr wrap="square" lIns="0" tIns="0" rIns="0" bIns="0" rtlCol="0" anchor="t"/>
          <a:lstStyle/>
          <a:p>
            <a:pPr marL="342900" indent="-342900">
              <a:spcAft>
                <a:spcPts val="500"/>
              </a:spcAft>
              <a:buSzPct val="100000"/>
              <a:buChar char="•"/>
            </a:pPr>
            <a:r>
              <a:rPr lang="en-US" sz="1250" dirty="0">
                <a:solidFill>
                  <a:srgbClr val="E2E8F0"/>
                </a:solidFill>
                <a:latin typeface="Calibri" panose="020F0502020204030204" pitchFamily="34" charset="0"/>
                <a:ea typeface="Calibri" panose="020F0502020204030204" pitchFamily="34" charset="-122"/>
                <a:cs typeface="Calibri" panose="020F0502020204030204" pitchFamily="34" charset="-120"/>
              </a:rPr>
              <a:t>System model &amp; channel simulator</a:t>
            </a:r>
            <a:endParaRPr lang="en-US" sz="1250" dirty="0"/>
          </a:p>
          <a:p>
            <a:pPr marL="342900" indent="-342900">
              <a:spcAft>
                <a:spcPts val="500"/>
              </a:spcAft>
              <a:buSzPct val="100000"/>
              <a:buChar char="•"/>
            </a:pPr>
            <a:r>
              <a:rPr lang="en-US" sz="1250" dirty="0">
                <a:solidFill>
                  <a:srgbClr val="E2E8F0"/>
                </a:solidFill>
                <a:latin typeface="Calibri" panose="020F0502020204030204" pitchFamily="34" charset="0"/>
                <a:ea typeface="Calibri" panose="020F0502020204030204" pitchFamily="34" charset="-122"/>
                <a:cs typeface="Calibri" panose="020F0502020204030204" pitchFamily="34" charset="-120"/>
              </a:rPr>
              <a:t>Hybrid NOMA-OFDMA scheduler</a:t>
            </a:r>
            <a:endParaRPr lang="en-US" sz="1250" dirty="0"/>
          </a:p>
          <a:p>
            <a:pPr marL="342900" indent="-342900">
              <a:spcAft>
                <a:spcPts val="500"/>
              </a:spcAft>
              <a:buSzPct val="100000"/>
              <a:buChar char="•"/>
            </a:pPr>
            <a:r>
              <a:rPr lang="en-US" sz="1250" dirty="0">
                <a:solidFill>
                  <a:srgbClr val="E2E8F0"/>
                </a:solidFill>
                <a:latin typeface="Calibri" panose="020F0502020204030204" pitchFamily="34" charset="0"/>
                <a:ea typeface="Calibri" panose="020F0502020204030204" pitchFamily="34" charset="-122"/>
                <a:cs typeface="Calibri" panose="020F0502020204030204" pitchFamily="34" charset="-120"/>
              </a:rPr>
              <a:t>SAC agent (actor, twin critics, auto-α)</a:t>
            </a:r>
            <a:endParaRPr lang="en-US" sz="1250" dirty="0"/>
          </a:p>
          <a:p>
            <a:pPr marL="342900" indent="-342900">
              <a:spcAft>
                <a:spcPts val="500"/>
              </a:spcAft>
              <a:buSzPct val="100000"/>
              <a:buChar char="•"/>
            </a:pPr>
            <a:r>
              <a:rPr lang="en-US" sz="1250" dirty="0">
                <a:solidFill>
                  <a:srgbClr val="E2E8F0"/>
                </a:solidFill>
                <a:latin typeface="Calibri" panose="020F0502020204030204" pitchFamily="34" charset="0"/>
                <a:ea typeface="Calibri" panose="020F0502020204030204" pitchFamily="34" charset="-122"/>
                <a:cs typeface="Calibri" panose="020F0502020204030204" pitchFamily="34" charset="-120"/>
              </a:rPr>
              <a:t>Training + evaluation vs equal allocation</a:t>
            </a:r>
            <a:endParaRPr lang="en-US" sz="1250" dirty="0"/>
          </a:p>
        </p:txBody>
      </p:sp>
      <p:pic>
        <p:nvPicPr>
          <p:cNvPr id="7" name="Image 1" descr="preencoded.png"/>
          <p:cNvPicPr>
            <a:picLocks noChangeAspect="1"/>
          </p:cNvPicPr>
          <p:nvPr/>
        </p:nvPicPr>
        <p:blipFill>
          <a:blip r:embed="rId2"/>
          <a:stretch>
            <a:fillRect/>
          </a:stretch>
        </p:blipFill>
        <p:spPr>
          <a:xfrm>
            <a:off x="4754880" y="1005840"/>
            <a:ext cx="256032" cy="256032"/>
          </a:xfrm>
          <a:prstGeom prst="rect">
            <a:avLst/>
          </a:prstGeom>
        </p:spPr>
      </p:pic>
      <p:sp>
        <p:nvSpPr>
          <p:cNvPr id="8" name="Text 4"/>
          <p:cNvSpPr txBox="1"/>
          <p:nvPr/>
        </p:nvSpPr>
        <p:spPr>
          <a:xfrm>
            <a:off x="5120640" y="978408"/>
            <a:ext cx="3474720" cy="310896"/>
          </a:xfrm>
          <a:prstGeom prst="rect">
            <a:avLst/>
          </a:prstGeom>
          <a:noFill/>
        </p:spPr>
        <p:txBody>
          <a:bodyPr wrap="square" lIns="0" tIns="0" rIns="0" bIns="0" rtlCol="0" anchor="ctr"/>
          <a:lstStyle/>
          <a:p>
            <a:pPr marL="0" indent="0">
              <a:buNone/>
            </a:pPr>
            <a:r>
              <a:rPr lang="en-US" sz="1400" b="1" dirty="0">
                <a:solidFill>
                  <a:srgbClr val="E89B0C"/>
                </a:solidFill>
                <a:latin typeface="Arial" panose="020B0604020202020204" pitchFamily="34" charset="0"/>
                <a:ea typeface="Arial" panose="020B0604020202020204" pitchFamily="34" charset="-122"/>
                <a:cs typeface="Arial" panose="020B0604020202020204" pitchFamily="34" charset="-120"/>
              </a:rPr>
              <a:t>Remaining</a:t>
            </a:r>
            <a:endParaRPr lang="en-US" sz="1400" dirty="0"/>
          </a:p>
        </p:txBody>
      </p:sp>
      <p:sp>
        <p:nvSpPr>
          <p:cNvPr id="9" name="Text 5"/>
          <p:cNvSpPr txBox="1"/>
          <p:nvPr/>
        </p:nvSpPr>
        <p:spPr>
          <a:xfrm>
            <a:off x="4754880" y="1371600"/>
            <a:ext cx="3840480" cy="1417320"/>
          </a:xfrm>
          <a:prstGeom prst="rect">
            <a:avLst/>
          </a:prstGeom>
          <a:noFill/>
        </p:spPr>
        <p:txBody>
          <a:bodyPr wrap="square" lIns="0" tIns="0" rIns="0" bIns="0" rtlCol="0" anchor="t"/>
          <a:lstStyle/>
          <a:p>
            <a:pPr marL="342900" indent="-342900">
              <a:spcAft>
                <a:spcPts val="500"/>
              </a:spcAft>
              <a:buSzPct val="100000"/>
              <a:buChar char="•"/>
            </a:pPr>
            <a:r>
              <a:rPr lang="en-US" sz="1250" dirty="0">
                <a:solidFill>
                  <a:srgbClr val="E2E8F0"/>
                </a:solidFill>
                <a:latin typeface="Calibri" panose="020F0502020204030204" pitchFamily="34" charset="0"/>
                <a:ea typeface="Calibri" panose="020F0502020204030204" pitchFamily="34" charset="-122"/>
                <a:cs typeface="Calibri" panose="020F0502020204030204" pitchFamily="34" charset="-120"/>
              </a:rPr>
              <a:t>Reward shaping to prioritise semantic users</a:t>
            </a:r>
            <a:endParaRPr lang="en-US" sz="1250" dirty="0"/>
          </a:p>
          <a:p>
            <a:pPr marL="342900" indent="-342900">
              <a:spcAft>
                <a:spcPts val="500"/>
              </a:spcAft>
              <a:buSzPct val="100000"/>
              <a:buChar char="•"/>
            </a:pPr>
            <a:r>
              <a:rPr lang="en-US" sz="1250" dirty="0">
                <a:solidFill>
                  <a:srgbClr val="E2E8F0"/>
                </a:solidFill>
                <a:latin typeface="Calibri" panose="020F0502020204030204" pitchFamily="34" charset="0"/>
                <a:ea typeface="Calibri" panose="020F0502020204030204" pitchFamily="34" charset="-122"/>
                <a:cs typeface="Calibri" panose="020F0502020204030204" pitchFamily="34" charset="-120"/>
              </a:rPr>
              <a:t>Stronger baselines (DDPG / PPO, water-filling)</a:t>
            </a:r>
            <a:endParaRPr lang="en-US" sz="1250" dirty="0"/>
          </a:p>
          <a:p>
            <a:pPr marL="342900" indent="-342900">
              <a:spcAft>
                <a:spcPts val="500"/>
              </a:spcAft>
              <a:buSzPct val="100000"/>
              <a:buChar char="•"/>
            </a:pPr>
            <a:r>
              <a:rPr lang="en-US" sz="1250" dirty="0">
                <a:solidFill>
                  <a:srgbClr val="E2E8F0"/>
                </a:solidFill>
                <a:latin typeface="Calibri" panose="020F0502020204030204" pitchFamily="34" charset="0"/>
                <a:ea typeface="Calibri" panose="020F0502020204030204" pitchFamily="34" charset="-122"/>
                <a:cs typeface="Calibri" panose="020F0502020204030204" pitchFamily="34" charset="-120"/>
              </a:rPr>
              <a:t>Multiple seeds; scaling with users &amp; subcarriers</a:t>
            </a:r>
            <a:endParaRPr lang="en-US" sz="1250" dirty="0"/>
          </a:p>
          <a:p>
            <a:pPr marL="342900" indent="-342900">
              <a:spcAft>
                <a:spcPts val="500"/>
              </a:spcAft>
              <a:buSzPct val="100000"/>
              <a:buChar char="•"/>
            </a:pPr>
            <a:r>
              <a:rPr lang="en-US" sz="1250" dirty="0">
                <a:solidFill>
                  <a:srgbClr val="E2E8F0"/>
                </a:solidFill>
                <a:latin typeface="Calibri" panose="020F0502020204030204" pitchFamily="34" charset="0"/>
                <a:ea typeface="Calibri" panose="020F0502020204030204" pitchFamily="34" charset="-122"/>
                <a:cs typeface="Calibri" panose="020F0502020204030204" pitchFamily="34" charset="-120"/>
              </a:rPr>
              <a:t>GitHub repo: docs, results &amp; run instructions</a:t>
            </a:r>
            <a:endParaRPr lang="en-US" sz="1250" dirty="0"/>
          </a:p>
        </p:txBody>
      </p:sp>
      <p:sp>
        <p:nvSpPr>
          <p:cNvPr id="10" name="Text 6"/>
          <p:cNvSpPr txBox="1"/>
          <p:nvPr/>
        </p:nvSpPr>
        <p:spPr>
          <a:xfrm>
            <a:off x="457200" y="2971800"/>
            <a:ext cx="4572000" cy="274320"/>
          </a:xfrm>
          <a:prstGeom prst="rect">
            <a:avLst/>
          </a:prstGeom>
          <a:noFill/>
        </p:spPr>
        <p:txBody>
          <a:bodyPr wrap="square" lIns="0" tIns="0" rIns="0" bIns="0" rtlCol="0" anchor="ctr"/>
          <a:lstStyle/>
          <a:p>
            <a:pPr marL="0" indent="0">
              <a:buNone/>
            </a:pPr>
            <a:r>
              <a:rPr lang="en-US" sz="1200" b="1" dirty="0">
                <a:solidFill>
                  <a:srgbClr val="94A3B8"/>
                </a:solidFill>
                <a:latin typeface="Arial" panose="020B0604020202020204" pitchFamily="34" charset="0"/>
                <a:ea typeface="Arial" panose="020B0604020202020204" pitchFamily="34" charset="-122"/>
                <a:cs typeface="Arial" panose="020B0604020202020204" pitchFamily="34" charset="-120"/>
              </a:rPr>
              <a:t>Individual contributions</a:t>
            </a:r>
            <a:endParaRPr lang="en-US" sz="1200" dirty="0"/>
          </a:p>
        </p:txBody>
      </p:sp>
      <p:sp>
        <p:nvSpPr>
          <p:cNvPr id="11" name="Shape 7"/>
          <p:cNvSpPr/>
          <p:nvPr/>
        </p:nvSpPr>
        <p:spPr>
          <a:xfrm>
            <a:off x="457200" y="3291840"/>
            <a:ext cx="2606040" cy="960120"/>
          </a:xfrm>
          <a:prstGeom prst="roundRect">
            <a:avLst>
              <a:gd name="adj" fmla="val 7619"/>
            </a:avLst>
          </a:prstGeom>
          <a:solidFill>
            <a:srgbClr val="16233D"/>
          </a:solidFill>
          <a:ln w="12700">
            <a:solidFill>
              <a:srgbClr val="2B3A57"/>
            </a:solidFill>
            <a:prstDash val="solid"/>
          </a:ln>
        </p:spPr>
      </p:sp>
      <p:sp>
        <p:nvSpPr>
          <p:cNvPr id="12" name="Text 8"/>
          <p:cNvSpPr txBox="1"/>
          <p:nvPr/>
        </p:nvSpPr>
        <p:spPr>
          <a:xfrm>
            <a:off x="594360" y="3337560"/>
            <a:ext cx="2331720" cy="86868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Member 1</a:t>
            </a:r>
            <a:endParaRPr lang="en-US" sz="1300" dirty="0"/>
          </a:p>
          <a:p>
            <a:pPr marL="0" indent="0">
              <a:buNone/>
            </a:pPr>
            <a:r>
              <a:rPr lang="en-US" sz="1050" dirty="0">
                <a:solidFill>
                  <a:srgbClr val="CBD5E1"/>
                </a:solidFill>
                <a:latin typeface="Calibri" panose="020F0502020204030204" pitchFamily="34" charset="0"/>
                <a:ea typeface="Calibri" panose="020F0502020204030204" pitchFamily="34" charset="-122"/>
                <a:cs typeface="Calibri" panose="020F0502020204030204" pitchFamily="34" charset="-120"/>
              </a:rPr>
              <a:t>System model, channel generation &amp; NOMA-OFDMA scheduler</a:t>
            </a:r>
            <a:endParaRPr lang="en-US" sz="1300" dirty="0"/>
          </a:p>
        </p:txBody>
      </p:sp>
      <p:sp>
        <p:nvSpPr>
          <p:cNvPr id="13" name="Shape 9"/>
          <p:cNvSpPr/>
          <p:nvPr/>
        </p:nvSpPr>
        <p:spPr>
          <a:xfrm>
            <a:off x="3264408" y="3291840"/>
            <a:ext cx="2606040" cy="960120"/>
          </a:xfrm>
          <a:prstGeom prst="roundRect">
            <a:avLst>
              <a:gd name="adj" fmla="val 7619"/>
            </a:avLst>
          </a:prstGeom>
          <a:solidFill>
            <a:srgbClr val="16233D"/>
          </a:solidFill>
          <a:ln w="12700">
            <a:solidFill>
              <a:srgbClr val="2B3A57"/>
            </a:solidFill>
            <a:prstDash val="solid"/>
          </a:ln>
        </p:spPr>
      </p:sp>
      <p:sp>
        <p:nvSpPr>
          <p:cNvPr id="14" name="Text 10"/>
          <p:cNvSpPr txBox="1"/>
          <p:nvPr/>
        </p:nvSpPr>
        <p:spPr>
          <a:xfrm>
            <a:off x="3401568" y="3337560"/>
            <a:ext cx="2331720" cy="86868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Member 2</a:t>
            </a:r>
            <a:endParaRPr lang="en-US" sz="1300" dirty="0"/>
          </a:p>
          <a:p>
            <a:pPr marL="0" indent="0">
              <a:buNone/>
            </a:pPr>
            <a:r>
              <a:rPr lang="en-US" sz="1050" dirty="0">
                <a:solidFill>
                  <a:srgbClr val="CBD5E1"/>
                </a:solidFill>
                <a:latin typeface="Calibri" panose="020F0502020204030204" pitchFamily="34" charset="0"/>
                <a:ea typeface="Calibri" panose="020F0502020204030204" pitchFamily="34" charset="-122"/>
                <a:cs typeface="Calibri" panose="020F0502020204030204" pitchFamily="34" charset="-120"/>
              </a:rPr>
              <a:t>SAC agent design, reward formulation &amp; training</a:t>
            </a:r>
            <a:endParaRPr lang="en-US" sz="1300" dirty="0"/>
          </a:p>
        </p:txBody>
      </p:sp>
      <p:sp>
        <p:nvSpPr>
          <p:cNvPr id="15" name="Shape 11"/>
          <p:cNvSpPr/>
          <p:nvPr/>
        </p:nvSpPr>
        <p:spPr>
          <a:xfrm>
            <a:off x="6071616" y="3291840"/>
            <a:ext cx="2606040" cy="960120"/>
          </a:xfrm>
          <a:prstGeom prst="roundRect">
            <a:avLst>
              <a:gd name="adj" fmla="val 7619"/>
            </a:avLst>
          </a:prstGeom>
          <a:solidFill>
            <a:srgbClr val="16233D"/>
          </a:solidFill>
          <a:ln w="12700">
            <a:solidFill>
              <a:srgbClr val="2B3A57"/>
            </a:solidFill>
            <a:prstDash val="solid"/>
          </a:ln>
        </p:spPr>
      </p:sp>
      <p:sp>
        <p:nvSpPr>
          <p:cNvPr id="16" name="Text 12"/>
          <p:cNvSpPr txBox="1"/>
          <p:nvPr/>
        </p:nvSpPr>
        <p:spPr>
          <a:xfrm>
            <a:off x="6208776" y="3337560"/>
            <a:ext cx="2331720" cy="868680"/>
          </a:xfrm>
          <a:prstGeom prst="rect">
            <a:avLst/>
          </a:prstGeom>
          <a:noFill/>
        </p:spPr>
        <p:txBody>
          <a:bodyPr wrap="square" lIns="0" tIns="0" rIns="0" bIns="0" rtlCol="0" anchor="ct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Member 3</a:t>
            </a:r>
            <a:endParaRPr lang="en-US" sz="1300" dirty="0"/>
          </a:p>
          <a:p>
            <a:pPr marL="0" indent="0">
              <a:buNone/>
            </a:pPr>
            <a:r>
              <a:rPr lang="en-US" sz="1050" dirty="0">
                <a:solidFill>
                  <a:srgbClr val="CBD5E1"/>
                </a:solidFill>
                <a:latin typeface="Calibri" panose="020F0502020204030204" pitchFamily="34" charset="0"/>
                <a:ea typeface="Calibri" panose="020F0502020204030204" pitchFamily="34" charset="-122"/>
                <a:cs typeface="Calibri" panose="020F0502020204030204" pitchFamily="34" charset="-120"/>
              </a:rPr>
              <a:t>Baseline, evaluation, result analysis &amp; GitHub repo</a:t>
            </a:r>
            <a:endParaRPr lang="en-US" sz="1300" dirty="0"/>
          </a:p>
        </p:txBody>
      </p:sp>
      <p:pic>
        <p:nvPicPr>
          <p:cNvPr id="17" name="Image 2" descr="preencoded.png"/>
          <p:cNvPicPr>
            <a:picLocks noChangeAspect="1"/>
          </p:cNvPicPr>
          <p:nvPr/>
        </p:nvPicPr>
        <p:blipFill>
          <a:blip r:embed="rId3"/>
          <a:stretch>
            <a:fillRect/>
          </a:stretch>
        </p:blipFill>
        <p:spPr>
          <a:xfrm>
            <a:off x="457200" y="4462272"/>
            <a:ext cx="219456" cy="219456"/>
          </a:xfrm>
          <a:prstGeom prst="rect">
            <a:avLst/>
          </a:prstGeom>
        </p:spPr>
      </p:pic>
      <p:sp>
        <p:nvSpPr>
          <p:cNvPr id="18" name="Text 13"/>
          <p:cNvSpPr txBox="1"/>
          <p:nvPr/>
        </p:nvSpPr>
        <p:spPr>
          <a:xfrm>
            <a:off x="777240" y="4434840"/>
            <a:ext cx="5486400" cy="274320"/>
          </a:xfrm>
          <a:prstGeom prst="rect">
            <a:avLst/>
          </a:prstGeom>
          <a:noFill/>
        </p:spPr>
        <p:txBody>
          <a:bodyPr wrap="square" lIns="0" tIns="0" rIns="0" bIns="0" rtlCol="0" anchor="ctr"/>
          <a:lstStyle/>
          <a:p>
            <a:pPr marL="0" indent="0">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github.com/&lt;your-username&gt;/&lt;repo-name&gt;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5631</Words>
  <Application>WPS Presentation</Application>
  <PresentationFormat>On-screen Show (16:9)</PresentationFormat>
  <Paragraphs>318</Paragraphs>
  <Slides>10</Slides>
  <Notes>10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Arial</vt:lpstr>
      <vt:lpstr>SimSun</vt:lpstr>
      <vt:lpstr>Wingdings</vt:lpstr>
      <vt:lpstr>Calibri</vt:lpstr>
      <vt:lpstr>Calibri</vt:lpstr>
      <vt:lpstr>Calibri</vt:lpstr>
      <vt:lpstr>Arial</vt:lpstr>
      <vt:lpstr>Arial</vt:lpstr>
      <vt:lpstr>Calibri</vt:lpstr>
      <vt:lpstr>Arial</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SAC-based Semantic-Aware Resource Allocation for Hybrid Semantic/Bit NOMA Networks</dc:title>
  <dc:creator>PptxGenJS</dc:creator>
  <dc:subject>PptxGenJS Presentation</dc:subject>
  <cp:lastModifiedBy>Karthika P</cp:lastModifiedBy>
  <cp:revision>2</cp:revision>
  <dcterms:created xsi:type="dcterms:W3CDTF">2026-09-28T09:20:00Z</dcterms:created>
  <dcterms:modified xsi:type="dcterms:W3CDTF">2026-09-28T09:27:26Z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047D7A455C514783B7C3BC1DA1C3712A_12</vt:lpwstr>
  </property>
</Properties>
</file>