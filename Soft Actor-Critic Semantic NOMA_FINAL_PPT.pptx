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embeddedFontLs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388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lus Jakarta Sans"/>
              </a:rPr>
              <a:t>MACHINE LEARNING PROJECT (25SC2107E)</a:t>
            </a:r>
            <a:endParaRPr sz="120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44175" y="619125"/>
            <a:ext cx="1171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KL University</a:t>
            </a:r>
            <a:endParaRPr sz="1125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054721"/>
            <a:ext cx="9701212" cy="157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Soft Actor-Critic Based Semantic-Aware Resource Allocation for Hybrid NOMA Networks</a:t>
            </a:r>
            <a:endParaRPr sz="345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822203"/>
            <a:ext cx="7905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Joint power and transmission time optimization using continuous deep reinforcement learning in dynamic OFDMA-NOMA wireless environments.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5876925"/>
            <a:ext cx="7393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PROJECT TEAM</a:t>
            </a:r>
            <a:endParaRPr sz="975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6067425"/>
            <a:ext cx="7393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N. Jesly Monica (2520040052) | M. Shreya (2520040063) | P. Karthika (2520040094)</a:t>
            </a:r>
            <a:endParaRPr sz="1125" b="1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58025" y="5876925"/>
            <a:ext cx="4548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SUPERVISOR</a:t>
            </a:r>
            <a:endParaRPr sz="975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58025" y="6067425"/>
            <a:ext cx="4548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Mr. N Lava Prasad (Assistant Professor, Dept. of ECE)</a:t>
            </a:r>
            <a:endParaRPr sz="1125" b="1" i="0" u="none">
              <a:solidFill>
                <a:srgbClr val="CBD5E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5785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83308"/>
            <a:ext cx="3505200" cy="2386607"/>
          </a:xfrm>
          <a:prstGeom prst="roundRect">
            <a:avLst>
              <a:gd name="adj" fmla="val 31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942355"/>
            <a:ext cx="3505200" cy="2868513"/>
          </a:xfrm>
          <a:prstGeom prst="roundRect">
            <a:avLst>
              <a:gd name="adj" fmla="val 26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942355"/>
            <a:ext cx="3505200" cy="2868513"/>
          </a:xfrm>
          <a:prstGeom prst="roundRect">
            <a:avLst>
              <a:gd name="adj" fmla="val 26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83308"/>
            <a:ext cx="38100" cy="238660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942355"/>
            <a:ext cx="38100" cy="286851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1942355"/>
            <a:ext cx="38100" cy="2868513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591502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4296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342405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342405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Core Challenges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9200" y="5829300"/>
            <a:ext cx="10229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Objective:</a:t>
            </a:r>
            <a:r>
              <a:rPr sz="1200" b="1" i="0" u="none">
                <a:solidFill>
                  <a:srgbClr val="F8FAFC"/>
                </a:solidFill>
                <a:latin typeface="Plus Jakarta Sans"/>
              </a:rPr>
              <a:t> Design an autonomous Soft Actor-Critic (SAC) DRL framework to optimize power and time allocation jointly for semantic utility, throughput, QoS, fairness, and energy efficiency.</a:t>
            </a:r>
            <a:endParaRPr sz="12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2450008"/>
            <a:ext cx="328791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Heterogeneous User Traffic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9175" y="2838628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4900" y="2840533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Semantic Users: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Require high information importance ($s_u &gt; 0$).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9175" y="332618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4900" y="3328094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Conventional Bit Users: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Require raw data transmission rate ($s_u = 0$).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9175" y="381375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4900" y="3815655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Traditional schedulers treat all data bits equally.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00625" y="2209055"/>
            <a:ext cx="281035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NOMA Interference &amp; Dynamic Channels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2975" y="283580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38700" y="2837705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Intra-cluster Interference: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Co-channel users share spectrum.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2975" y="3323361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38700" y="3325266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Fading Dynamic: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Non-convex power control under Rayleigh fading.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2975" y="3810922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38700" y="3812827"/>
            <a:ext cx="283845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Analytical optimization is computationally intractable per frame.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63000" y="2209055"/>
            <a:ext cx="27803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Resource Scarcity Trade-offs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86775" y="283580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72500" y="2837705"/>
            <a:ext cx="2838450" cy="7313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Tight Budgets: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$10\text{ W}$ transmit power, $1.0\text{ s}$ frame time window.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86775" y="3567142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72500" y="3569047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Multi-objective Conflict: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Throughput vs fairness vs energy.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86775" y="4054703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72500" y="4056608"/>
            <a:ext cx="2838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Need adaptive model for continuous allocation control.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1976437"/>
            <a:ext cx="4267200" cy="1019175"/>
          </a:xfrm>
          <a:prstGeom prst="roundRect">
            <a:avLst>
              <a:gd name="adj" fmla="val 747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3148012"/>
            <a:ext cx="4267200" cy="1019175"/>
          </a:xfrm>
          <a:prstGeom prst="roundRect">
            <a:avLst>
              <a:gd name="adj" fmla="val 747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0" y="4319587"/>
            <a:ext cx="4267200" cy="1200150"/>
          </a:xfrm>
          <a:prstGeom prst="roundRect">
            <a:avLst>
              <a:gd name="adj" fmla="val 6349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409825"/>
          <a:ext cx="6400799" cy="3009900"/>
        </p:xfrm>
        <a:graphic>
          <a:graphicData uri="http://schemas.openxmlformats.org/drawingml/2006/table">
            <a:tbl>
              <a:tblPr/>
              <a:tblGrid>
                <a:gridCol w="2436316"/>
                <a:gridCol w="3964483"/>
              </a:tblGrid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Parameter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Value / Specification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Active Users ($N$)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 heterogeneous users (50% Semantic / 50% Bit)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OFDMA Subcarriers ($K$)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subcarriers ($2\text{ MHz}$ bandwidth per subcarrier)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Total Bandwidth ($B$)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$10.0\text{ MHz}$ total system bandwidth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BS Power Budget ($P_{\max}$)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$10.0\text{ W}$ base station transmit power limit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98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Frame Duration ($T$)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$1.0\text{ s}$ per transmission decision window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9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Channel Fading &amp; Loss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Rayleigh fading, path loss exponent $\alpha = 3.0$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Physical Simulation Environment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Architecture &amp; Parameters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076450"/>
            <a:ext cx="84010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System Specifications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15225" y="2176462"/>
            <a:ext cx="4676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Semantic Users</a:t>
            </a:r>
            <a:endParaRPr sz="1200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15225" y="2433637"/>
            <a:ext cx="3962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Plus Jakarta Sans"/>
              </a:rPr>
              <a:t>Semantic Importance $s_u \in [0.4, 1.0]$. Utility evaluated by importance-weighted information delivery.</a:t>
            </a:r>
            <a:endParaRPr sz="1125" b="0" i="0" u="none">
              <a:solidFill>
                <a:srgbClr val="15803D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15225" y="3348037"/>
            <a:ext cx="4676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75985"/>
                </a:solidFill>
                <a:latin typeface="Plus Jakarta Sans"/>
              </a:rPr>
              <a:t>Conventional Bit Users</a:t>
            </a:r>
            <a:endParaRPr sz="1200" b="1" i="0" u="none">
              <a:solidFill>
                <a:srgbClr val="07598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15225" y="3605212"/>
            <a:ext cx="3962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369A1"/>
                </a:solidFill>
                <a:latin typeface="Plus Jakarta Sans"/>
              </a:rPr>
              <a:t>Semantic Importance $s_u = 0.0$. Transmission focus strictly on achieving target bit rate demand.</a:t>
            </a:r>
            <a:endParaRPr sz="1125" b="0" i="0" u="none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15225" y="4519612"/>
            <a:ext cx="4676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B21A8"/>
                </a:solidFill>
                <a:latin typeface="Plus Jakarta Sans"/>
              </a:rPr>
              <a:t>Target Rates &amp; Distances</a:t>
            </a:r>
            <a:endParaRPr sz="1200" b="1" i="0" u="none">
              <a:solidFill>
                <a:srgbClr val="6B21A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15225" y="4776787"/>
            <a:ext cx="3962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E22CE"/>
                </a:solidFill>
                <a:latin typeface="Plus Jakarta Sans"/>
              </a:rPr>
              <a:t>Target demand $R_u^{\text{target}} \in [0.5, 3.0]\text{ Mbps}$. Uniform spatial placement inside $100\text{m} \times 100\text{m}$ cell.</a:t>
            </a:r>
            <a:endParaRPr sz="1125" b="0" i="0" u="none">
              <a:solidFill>
                <a:srgbClr val="7E22CE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38775"/>
            <a:ext cx="10972800" cy="962025"/>
          </a:xfrm>
          <a:prstGeom prst="roundRect">
            <a:avLst>
              <a:gd name="adj" fmla="val 79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3131"/>
            <a:ext cx="3530649" cy="2147887"/>
          </a:xfrm>
          <a:prstGeom prst="roundRect">
            <a:avLst>
              <a:gd name="adj" fmla="val 3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085975"/>
            <a:ext cx="3530649" cy="23622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085975"/>
            <a:ext cx="3530649" cy="23622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331493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193131"/>
            <a:ext cx="3530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9313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2193131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0749" y="44386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749" y="2085975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749" y="2085975"/>
            <a:ext cx="9525" cy="2362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874" y="2085975"/>
            <a:ext cx="9525" cy="2362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44386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2085975"/>
            <a:ext cx="353064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2085975"/>
            <a:ext cx="9525" cy="2362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3023" y="2085975"/>
            <a:ext cx="9525" cy="2362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Proposed Methodology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Hybrid NOMA-OFDMA &amp; Semantic Utility Model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7725" y="2478881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STAGE 1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7725" y="2736056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OFDMA Subcarrier Pairing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68874" y="2371725"/>
            <a:ext cx="8191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STAGE 2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68874" y="262890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Downlink NOMA &amp; SIC Interference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90024" y="2371725"/>
            <a:ext cx="828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STAGE 3</a:t>
            </a:r>
            <a:endParaRPr sz="10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90024" y="2628900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Semantic Utility Formulation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2529" y="5629275"/>
            <a:ext cx="477570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Plus Jakarta Sans"/>
              </a:rPr>
              <a:t>USER DOWNLINK SINR</a:t>
            </a:r>
            <a:endParaRPr sz="900" b="1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2529" y="5810250"/>
            <a:ext cx="47757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JetBrains Mono"/>
              </a:rPr>
              <a:t>$\text{SINR}_u = \frac{p_u g_u}{\sum_{v &gt; u} p_v g_u + \sigma^2}$</a:t>
            </a:r>
            <a:endParaRPr sz="1200" b="0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9713" y="5629275"/>
            <a:ext cx="39675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Plus Jakarta Sans"/>
              </a:rPr>
              <a:t>ACHIEVABLE BIT RATE</a:t>
            </a:r>
            <a:endParaRPr sz="900" b="1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29713" y="5810250"/>
            <a:ext cx="396757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4D399"/>
                </a:solidFill>
                <a:latin typeface="JetBrains Mono"/>
              </a:rPr>
              <a:t>$R_u = B_{\text{sub}} \cdot \log_2(1 + \text{SINR}_u)$</a:t>
            </a:r>
            <a:endParaRPr sz="1200" b="0" i="0" u="none">
              <a:solidFill>
                <a:srgbClr val="34D399"/>
              </a:solidFill>
              <a:latin typeface="JetBrains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8155" y="5629275"/>
            <a:ext cx="448177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Plus Jakarta Sans"/>
              </a:rPr>
              <a:t>SEMANTIC UTILITY PROXY</a:t>
            </a:r>
            <a:endParaRPr sz="900" b="1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58155" y="5810250"/>
            <a:ext cx="448177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BBF24"/>
                </a:solidFill>
                <a:latin typeface="JetBrains Mono"/>
              </a:rPr>
              <a:t>$U_{\text{sem}} = \sum_{u=1}^N s_u \cdot [R_u \cdot (t_u T)]$</a:t>
            </a:r>
            <a:endParaRPr sz="1200" b="0" i="0" u="none">
              <a:solidFill>
                <a:srgbClr val="FBBF24"/>
              </a:solidFill>
              <a:latin typeface="JetBrains Mon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2975" y="3028950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9175" y="3031331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Sort users by channel gain $g_u$ (weak to strong).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2975" y="3457575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9175" y="3459956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Distribute $N=20$ users across $K=5$ subcarriers.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2975" y="3886200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19175" y="3888581"/>
            <a:ext cx="3603687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4 users grouped per subcarrier.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64124" y="292179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40324" y="2924175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Successive Interference Cancellation (SIC) applied.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64124" y="335041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40324" y="3352800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Stronger users decode and cancel weaker signals.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64124" y="377904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40324" y="3781425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SINR calculation includes residual co-subcarrier power.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85274" y="292179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461474" y="2924175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Evaluates importance-weighted throughput.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85274" y="335041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61474" y="3352800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Delivered Mbits: $D_u = R_u \cdot (t_u \cdot T)$.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85274" y="377904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61474" y="3781425"/>
            <a:ext cx="2978199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Utility Proxy: $U_{\text{sem}} = \sum s_u \cdot D_u$.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40768"/>
            <a:ext cx="3505200" cy="2814637"/>
          </a:xfrm>
          <a:prstGeom prst="roundRect">
            <a:avLst>
              <a:gd name="adj" fmla="val 2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40768"/>
            <a:ext cx="3505200" cy="2814637"/>
          </a:xfrm>
          <a:prstGeom prst="roundRect">
            <a:avLst>
              <a:gd name="adj" fmla="val 2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35993"/>
            <a:ext cx="3505200" cy="3024187"/>
          </a:xfrm>
          <a:prstGeom prst="roundRect">
            <a:avLst>
              <a:gd name="adj" fmla="val 25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2702718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2702718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2488406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Reinforcement Learning Modeling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Soft Actor-Critic MDP Formulation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725" y="3131343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Normalized observations collected per frame: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1525" y="3131343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Continuous control decision variables: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15325" y="2807493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Multi-objective weighted function: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2050" y="2578893"/>
            <a:ext cx="29503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State Space $\mathcal{S}$ ($5N$ Dim)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2975" y="3414712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9175" y="3417093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Channel Quality ($g$):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Normalized gain ratio.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2975" y="3843337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9175" y="3845718"/>
            <a:ext cx="3571875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Distance ($d$):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Normalized user location.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2975" y="4057650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9175" y="4060031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Semantic Importance ($s$):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User weight $s_u$.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2975" y="4486275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9175" y="4488656"/>
            <a:ext cx="3571875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Target Data Rate ($r$):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Traffic demand.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2975" y="4700587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9175" y="4702968"/>
            <a:ext cx="3571875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Subcarrier Index ($sc$):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Grouping ID.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7275" y="2578893"/>
            <a:ext cx="298037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Action Space $\mathcal{A}$ ($2N+1$ Dim)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76775" y="3414712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2975" y="3417093"/>
            <a:ext cx="3571875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Power Logits ($N$):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Transmit power split.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76775" y="3629025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2975" y="3631406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Time Logits ($N$):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Transmission time split.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76775" y="4057650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2975" y="4060031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Budget Scalar ($1$):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Power usage level ($5\% \text{ to } 100\%$).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76775" y="4486275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2975" y="4488656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Softmax conversion guarantees valid budget splits.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29650" y="2474118"/>
            <a:ext cx="2600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Composite Reward $R$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10575" y="3090862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86775" y="3093243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$30\%$ Throughput: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Total rate delivered.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0575" y="3519487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86775" y="3521868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$30\%$ Semantic Utility: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$U_{\text{sem}}$ metric score.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10575" y="3948112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86775" y="3950493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$15\%$ QoS Satisfaction: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Rate ratio achieved.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10575" y="4376737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86775" y="4379118"/>
            <a:ext cx="3571875" cy="214312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$15\%$ Fairness: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Jain's index on rates.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10575" y="4591050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86775" y="4593431"/>
            <a:ext cx="295275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$10\%$ Energy Efficiency: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Mbps/Watt ratio.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90725"/>
            <a:ext cx="5334000" cy="3028950"/>
          </a:xfrm>
          <a:prstGeom prst="roundRect">
            <a:avLst>
              <a:gd name="adj" fmla="val 25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071687"/>
            <a:ext cx="5334000" cy="2867025"/>
          </a:xfrm>
          <a:prstGeom prst="roundRect">
            <a:avLst>
              <a:gd name="adj" fmla="val 26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90725"/>
            <a:ext cx="38100" cy="30289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071687"/>
            <a:ext cx="38100" cy="2867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Algorithm Design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Soft Actor-Critic (SAC) Agent Architecture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238125" y="6067425"/>
            <a:ext cx="1266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SAC Objective Maximization:</a:t>
            </a:r>
            <a:r>
              <a:rPr sz="1125" b="1" i="0" u="none">
                <a:solidFill>
                  <a:srgbClr val="F8FAFC"/>
                </a:solidFill>
                <a:latin typeface="Plus Jakarta Sans"/>
              </a:rPr>
              <a:t> $J(\pi) = \sum_{t=0}^T \mathbb{E}_{(s_t, a_t)} \left[ r(s_t, a_t) + \alpha \mathcal{H}(\pi(\cdot|s_t)) \right]$</a:t>
            </a:r>
            <a:endParaRPr sz="1125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257425"/>
            <a:ext cx="62507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Neural Network Components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2338387"/>
            <a:ext cx="5638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Hyperparameters &amp; Training Setup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647950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lus Jakarta Sans"/>
              </a:rPr>
              <a:t>Gaussian Actor Network $\pi_\theta(a|s)$</a:t>
            </a:r>
            <a:endParaRPr sz="120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886075"/>
            <a:ext cx="4857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Outputs Gaussian mean $\mu$ and std $\sigma$. Uses Tanh squashing to bound actions continuously in $[-1, 1]$.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400425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Twin Critic Networks $Q_{\phi_1}(s,a), Q_{\phi_2}(s,a)$</a:t>
            </a:r>
            <a:endParaRPr sz="12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638550"/>
            <a:ext cx="4857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Evaluates state-action pair values. Takes minimum output $\min(Q_1, Q_2)$ to prevent overestimation bias.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152900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Automatic Entropy Temperature ($\alpha$)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391025"/>
            <a:ext cx="4857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Dynamically adjusts entropy temperature $\alpha$ to balance exploration vs exploitation during learning.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2726531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43700" y="2728912"/>
            <a:ext cx="4667250" cy="48577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Network MLP Hidden Units: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2 hidden layers (128 units each, ReLU activation).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7500" y="3212306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43700" y="3214687"/>
            <a:ext cx="4667250" cy="48577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Optimizer &amp; Learning Rate: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Adam optimizer with $\text{lr} = 3 \times 10^{-4}$.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7500" y="3698081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43700" y="3700462"/>
            <a:ext cx="4667250" cy="48577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Discount &amp; Soft Update: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Gamma $\gamma = 0.99$, Polyak tau $\tau = 0.005$.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7500" y="4183856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3700" y="4186237"/>
            <a:ext cx="5448300" cy="242887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Replay Buffer &amp; Batch: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50,000 transition capacity, batch size 128.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67500" y="4426743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43700" y="4429125"/>
            <a:ext cx="5448300" cy="242887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Training Schedule: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1,200 training episodes (300 warmup steps).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76925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1762"/>
            <a:ext cx="1866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6075" y="2671762"/>
            <a:ext cx="1866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62550" y="2671762"/>
            <a:ext cx="1866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39025" y="2671762"/>
            <a:ext cx="1866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15500" y="2671762"/>
            <a:ext cx="1866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871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48075" y="2871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24550" y="2871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01025" y="2871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77500" y="2871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3400425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375" y="3400425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3400425"/>
            <a:ext cx="1047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325" y="3400425"/>
            <a:ext cx="104775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Implementation Overview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Execution &amp; Simulation Workflow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" y="6048375"/>
            <a:ext cx="2119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Software &amp; Tools Stack:</a:t>
            </a:r>
            <a:endParaRPr sz="11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7875" y="6048375"/>
            <a:ext cx="633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Python 3.x | PyTorch | Gymnasium | NumPy | Pandas | Matplotlib | Google Colab</a:t>
            </a:r>
            <a:endParaRPr sz="1125" b="1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28725" y="2871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0429" y="332898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System Init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268" y="358616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Configure users, bandwidth, and base station power budget.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05200" y="2871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56904" y="332898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Channel Sample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2743" y="358616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Simulate random user positions, Rayleigh fading &amp; path loss.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81675" y="2871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33379" y="332898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NOMA Pairing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79218" y="358616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Group users onto subcarriers based on channel quality order.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58150" y="2871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09854" y="332898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SAC Decision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55693" y="358616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Actor policy outputs continuous power &amp; time allocation.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334625" y="2871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5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86329" y="3328987"/>
            <a:ext cx="19252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SAC Update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32168" y="3586162"/>
            <a:ext cx="1833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Store transition in buffer and optimize Actor-Critic networks.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2138362"/>
            <a:ext cx="4267200" cy="1747837"/>
          </a:xfrm>
          <a:prstGeom prst="roundRect">
            <a:avLst>
              <a:gd name="adj" fmla="val 435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4038600"/>
            <a:ext cx="4267200" cy="1319212"/>
          </a:xfrm>
          <a:prstGeom prst="roundRect">
            <a:avLst>
              <a:gd name="adj" fmla="val 577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5225" y="2366962"/>
            <a:ext cx="1143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225" y="4267200"/>
            <a:ext cx="152400" cy="152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233612"/>
          <a:ext cx="6400798" cy="3028950"/>
        </p:xfrm>
        <a:graphic>
          <a:graphicData uri="http://schemas.openxmlformats.org/drawingml/2006/table">
            <a:tbl>
              <a:tblPr/>
              <a:tblGrid>
                <a:gridCol w="2101601"/>
                <a:gridCol w="1347936"/>
                <a:gridCol w="1276052"/>
                <a:gridCol w="1675209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Evaluation Metric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Equal Allocation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SAC Allocation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Performance Impact</a:t>
                      </a:r>
                      <a:endParaRPr sz="112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Average System Reward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0.3704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0.4357</a:t>
                      </a:r>
                      <a:endParaRPr sz="1125" b="1" i="0" u="none">
                        <a:solidFill>
                          <a:srgbClr val="0D948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+17.6% Gain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Energy Efficiency (Mbps/W)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1.642 Mbps/W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3.054 Mbps/W</a:t>
                      </a:r>
                      <a:endParaRPr sz="1125" b="1" i="0" u="none">
                        <a:solidFill>
                          <a:srgbClr val="0D948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+86.0% Boost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Transmit Power Used (W)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10.00 W (Full)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5.19 W</a:t>
                      </a:r>
                      <a:endParaRPr sz="1125" b="1" i="0" u="none">
                        <a:solidFill>
                          <a:srgbClr val="0D948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-48.1% Power Saved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Throughput (Mbps)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16.42 Mbps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15.86 Mbps</a:t>
                      </a:r>
                      <a:endParaRPr sz="1125" b="1" i="0" u="none">
                        <a:solidFill>
                          <a:srgbClr val="0D948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Retains 96.6% Rate</a:t>
                      </a:r>
                      <a:endParaRPr sz="1125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QoS Satisfaction Ratio</a:t>
                      </a:r>
                      <a:endParaRPr sz="1125" b="1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0.812</a:t>
                      </a:r>
                      <a:endParaRPr sz="1125" b="0" i="0" u="none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D9488"/>
                          </a:solidFill>
                          <a:latin typeface="Plus Jakarta Sans"/>
                        </a:rPr>
                        <a:t>0.841</a:t>
                      </a:r>
                      <a:endParaRPr sz="1125" b="1" i="0" u="none">
                        <a:solidFill>
                          <a:srgbClr val="0D948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+3.6% Improvement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Simulation Results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SAC vs Equal Allocation Baseline (200 Episodes)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15225" y="2338387"/>
            <a:ext cx="4676775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Critical Finding</a:t>
            </a:r>
            <a:endParaRPr sz="1200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15225" y="2614612"/>
            <a:ext cx="39624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15803D"/>
                </a:solidFill>
                <a:latin typeface="Plus Jakarta Sans"/>
              </a:rPr>
              <a:t>NOMA channels are interference-limited. SAC learned that blasting max power ($10\text{ W}$) adds excessive co-channel interference. Reducing power to $5.19\text{ W}$ doubles energy efficiency while maintaining full user rate.</a:t>
            </a:r>
            <a:endParaRPr sz="1125" b="0" i="0" u="none">
              <a:solidFill>
                <a:srgbClr val="15803D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15225" y="4238625"/>
            <a:ext cx="4676775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75985"/>
                </a:solidFill>
                <a:latin typeface="Plus Jakarta Sans"/>
              </a:rPr>
              <a:t>Dynamic Convergence</a:t>
            </a:r>
            <a:endParaRPr sz="1200" b="1" i="0" u="none">
              <a:solidFill>
                <a:srgbClr val="07598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15225" y="4514850"/>
            <a:ext cx="39624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0369A1"/>
                </a:solidFill>
                <a:latin typeface="Plus Jakarta Sans"/>
              </a:rPr>
              <a:t>SAC converges smoothly within ~400 episodes, maintaining training stability via entropy maximization and twin critic minimization.</a:t>
            </a:r>
            <a:endParaRPr sz="1125" b="0" i="0" u="none">
              <a:solidFill>
                <a:srgbClr val="0369A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6048375"/>
            <a:ext cx="11125200" cy="390525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43000"/>
            <a:ext cx="3594050" cy="4752975"/>
          </a:xfrm>
          <a:prstGeom prst="roundRect">
            <a:avLst>
              <a:gd name="adj" fmla="val 21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8900" y="1157605"/>
            <a:ext cx="3594050" cy="4752975"/>
          </a:xfrm>
          <a:prstGeom prst="roundRect">
            <a:avLst>
              <a:gd name="adj" fmla="val 21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1143000"/>
            <a:ext cx="3594050" cy="4752975"/>
          </a:xfrm>
          <a:prstGeom prst="roundRect">
            <a:avLst>
              <a:gd name="adj" fmla="val 21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6450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143000"/>
            <a:ext cx="359405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7925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325" y="4627066"/>
            <a:ext cx="3270200" cy="1106983"/>
          </a:xfrm>
          <a:prstGeom prst="roundRect">
            <a:avLst>
              <a:gd name="adj" fmla="val 51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8900" y="5886450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8900" y="1143000"/>
            <a:ext cx="35940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8900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3425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0825" y="4627066"/>
            <a:ext cx="3270200" cy="1106983"/>
          </a:xfrm>
          <a:prstGeom prst="roundRect">
            <a:avLst>
              <a:gd name="adj" fmla="val 51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4400" y="5886450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4400" y="1143000"/>
            <a:ext cx="35940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4400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8926" y="1143000"/>
            <a:ext cx="9525" cy="4752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6325" y="4627066"/>
            <a:ext cx="3270200" cy="1106983"/>
          </a:xfrm>
          <a:prstGeom prst="roundRect">
            <a:avLst>
              <a:gd name="adj" fmla="val 51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6167437"/>
            <a:ext cx="1714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357312"/>
            <a:ext cx="952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25" y="1357312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1357312"/>
            <a:ext cx="1333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400" y="419100"/>
            <a:ext cx="11220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Experimental Output Visualization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3400" y="657225"/>
            <a:ext cx="116586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Colab Simulation Output Plots &amp; Line Analysis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91725" y="6172200"/>
            <a:ext cx="184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SAC TRAINING COMPLETE</a:t>
            </a:r>
            <a:endParaRPr sz="900" b="1" i="0" u="none">
              <a:solidFill>
                <a:srgbClr val="34D399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0600" y="6162675"/>
            <a:ext cx="10858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JetBrains Mono"/>
              </a:rPr>
              <a:t>Final Episode Log: Reward: 1.0321 | Throughput: 17.889 Mbps | Semantic Utility: 5.504 | QoS: 0.748 | Alpha: 0.7247</a:t>
            </a:r>
            <a:endParaRPr sz="975" b="0" i="0" u="none">
              <a:solidFill>
                <a:srgbClr val="F8FAFC"/>
              </a:solidFill>
              <a:latin typeface="JetBrains Mon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100" y="4731841"/>
            <a:ext cx="3155900" cy="897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Plot Analysis: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Illustrates random spatial distribution of $N=10$ active users ($\bullet$) around the central Base Station ($\mathbf{\Delta}$) located at $(50,50)$, demonstrating varying Rayleigh path-loss profiles across the cellular area.</a:t>
            </a:r>
            <a:endParaRPr sz="97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65600" y="4731841"/>
            <a:ext cx="3155900" cy="897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Plot Analysis: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Shows initial exploration fluctuations giving way to a steady reward convergence around $\sim 1.12$ (50-episode moving average line), confirming stable policy optimization without gradient degradation.</a:t>
            </a:r>
            <a:endParaRPr sz="97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31100" y="4731841"/>
            <a:ext cx="3155900" cy="897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5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Plot Analysis: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Tracks continuous total throughput maintaining high performance levels between $19\text{--}21\text{ Mbps}$ across 1200 episodes, proving power efficiency cuts do not compromise overall network throughput capacity.</a:t>
            </a:r>
            <a:endParaRPr sz="97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66775" y="1333500"/>
            <a:ext cx="2562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Simulated User Positions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89425" y="1333500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SAC Training Reward Curve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35875" y="133350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Throughput During Training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75" y="1685290"/>
            <a:ext cx="3248025" cy="26289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3380" y="1946910"/>
            <a:ext cx="3815715" cy="190373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660" y="1997075"/>
            <a:ext cx="3307080" cy="1623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25389"/>
            <a:ext cx="5372100" cy="1567457"/>
          </a:xfrm>
          <a:prstGeom prst="roundRect">
            <a:avLst>
              <a:gd name="adj" fmla="val 486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925389"/>
            <a:ext cx="5372100" cy="1567457"/>
          </a:xfrm>
          <a:prstGeom prst="roundRect">
            <a:avLst>
              <a:gd name="adj" fmla="val 486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27661"/>
            <a:ext cx="35559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17950" y="4627661"/>
            <a:ext cx="35559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4627661"/>
            <a:ext cx="35559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30176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30176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Project Deliverables &amp; Team Work</a:t>
            </a:r>
            <a:endParaRPr sz="1050" b="1" i="0" u="none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Limitations &amp; Future Scope</a:t>
            </a:r>
            <a:endParaRPr sz="24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4360961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INDIVIDUAL CONTRIBUTIONS</a:t>
            </a:r>
            <a:endParaRPr sz="1050" b="1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5850" y="2115889"/>
            <a:ext cx="13101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Completed</a:t>
            </a:r>
            <a:endParaRPr sz="1350" b="1" i="0" u="none">
              <a:solidFill>
                <a:srgbClr val="10B981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5350" y="2451169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550" y="2449264"/>
            <a:ext cx="6024562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System model &amp; channel simulator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5350" y="266444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1550" y="2662535"/>
            <a:ext cx="6024562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Hybrid NOMA-OFDMA scheduler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5350" y="287771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1550" y="2875805"/>
            <a:ext cx="6024562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SAC agent (actor, twin critics, auto-$\alpha$)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5350" y="309098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1550" y="3089076"/>
            <a:ext cx="6024562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Training + evaluation vs equal allocation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38925" y="2115889"/>
            <a:ext cx="12301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Plus Jakarta Sans"/>
              </a:rPr>
              <a:t>Remaining</a:t>
            </a:r>
            <a:endParaRPr sz="1350" b="1" i="0" u="none">
              <a:solidFill>
                <a:srgbClr val="F59E0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6050" y="2451169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72250" y="2449264"/>
            <a:ext cx="561975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Reward shaping to prioritise semantic users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6050" y="266444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72250" y="2662535"/>
            <a:ext cx="561975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Stronger baselines (DDPG / PPO, water-filling)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6050" y="287771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72250" y="2875805"/>
            <a:ext cx="561975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Multiple seeds; scaling with users &amp; subcarriers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6050" y="309098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72250" y="3089076"/>
            <a:ext cx="561975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GitHub repo: docs, results &amp; run instructions</a:t>
            </a:r>
            <a:endParaRPr sz="1050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1525" y="4789586"/>
            <a:ext cx="4242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Member 1</a:t>
            </a:r>
            <a:endParaRPr sz="1125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1525" y="5008661"/>
            <a:ext cx="3327350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System model, channel generation &amp; NOMA-OFDMA scheduler</a:t>
            </a:r>
            <a:r>
              <a:rPr lang="en-IN" sz="975" b="0" i="0" u="none">
                <a:solidFill>
                  <a:srgbClr val="CBD5E1"/>
                </a:solidFill>
                <a:latin typeface="Plus Jakarta Sans"/>
              </a:rPr>
              <a:t> &amp; </a:t>
            </a:r>
            <a:r>
              <a:rPr sz="975">
                <a:solidFill>
                  <a:srgbClr val="CBD5E1"/>
                </a:solidFill>
                <a:latin typeface="Plus Jakarta Sans"/>
                <a:sym typeface="+mn-ea"/>
              </a:rPr>
              <a:t>GitHub repo</a:t>
            </a:r>
            <a:endParaRPr lang="en-IN" sz="975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479875" y="4789586"/>
            <a:ext cx="42421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Member 2</a:t>
            </a:r>
            <a:endParaRPr sz="1125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79925" y="5008880"/>
            <a:ext cx="3260725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SAC agent design, reward formulation &amp; training</a:t>
            </a:r>
            <a:r>
              <a:rPr lang="en-IN" sz="975" b="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sz="975">
                <a:solidFill>
                  <a:srgbClr val="CBD5E1"/>
                </a:solidFill>
                <a:latin typeface="Plus Jakarta Sans"/>
                <a:sym typeface="+mn-ea"/>
              </a:rPr>
              <a:t>Baseline, evaluation, </a:t>
            </a:r>
            <a:endParaRPr lang="en-IN" sz="975" b="0" i="0" u="none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8225" y="4789586"/>
            <a:ext cx="4003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Member 3</a:t>
            </a:r>
            <a:endParaRPr sz="1125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02830" y="5008661"/>
            <a:ext cx="3255010" cy="1504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 result analysis </a:t>
            </a:r>
            <a:r>
              <a:rPr lang="en-IN" sz="975" b="0" i="0" u="none">
                <a:solidFill>
                  <a:srgbClr val="CBD5E1"/>
                </a:solidFill>
                <a:latin typeface="Plus Jakarta Sans"/>
              </a:rPr>
              <a:t>, Literature survey , Project Report.</a:t>
            </a:r>
            <a:endParaRPr lang="en-IN" sz="975" b="0" i="0" u="none">
              <a:solidFill>
                <a:srgbClr val="CBD5E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8006</Words>
  <Application>WPS Presentation</Application>
  <PresentationFormat>On-screen Show (4:3)</PresentationFormat>
  <Paragraphs>460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Plus Jakarta Sans</vt:lpstr>
      <vt:lpstr>Segoe Print</vt:lpstr>
      <vt:lpstr>JetBrains Mono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pkart</cp:lastModifiedBy>
  <cp:revision>3</cp:revision>
  <dcterms:created xsi:type="dcterms:W3CDTF">2013-01-27T09:14:00Z</dcterms:created>
  <dcterms:modified xsi:type="dcterms:W3CDTF">2026-10-15T03:08:50Z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FAB5E7AFB4014F86AA763B5928629B3D_13</vt:lpwstr>
  </property>
</Properties>
</file>